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rial Bold" charset="1" panose="020B0704020202020204"/>
      <p:regular r:id="rId35"/>
    </p:embeddedFont>
    <p:embeddedFont>
      <p:font typeface="Arial Italics" charset="1" panose="020B0604020202090204"/>
      <p:regular r:id="rId36"/>
    </p:embeddedFont>
    <p:embeddedFont>
      <p:font typeface="Arial" charset="1" panose="020B0604020202020204"/>
      <p:regular r:id="rId37"/>
    </p:embeddedFont>
    <p:embeddedFont>
      <p:font typeface="Comic Sans" charset="1" panose="03000702030302020204"/>
      <p:regular r:id="rId39"/>
    </p:embeddedFont>
    <p:embeddedFont>
      <p:font typeface="League Spartan" charset="1" panose="00000800000000000000"/>
      <p:regular r:id="rId42"/>
    </p:embeddedFont>
    <p:embeddedFont>
      <p:font typeface="Roboto" charset="1" panose="02000000000000000000"/>
      <p:regular r:id="rId43"/>
    </p:embeddedFont>
    <p:embeddedFont>
      <p:font typeface="Arimo" charset="1" panose="020B0604020202020204"/>
      <p:regular r:id="rId44"/>
    </p:embeddedFont>
    <p:embeddedFont>
      <p:font typeface="Canva Sans" charset="1" panose="020B0503030501040103"/>
      <p:regular r:id="rId45"/>
    </p:embeddedFont>
    <p:embeddedFont>
      <p:font typeface="Calibri (MS)" charset="1" panose="020F0502020204030204"/>
      <p:regular r:id="rId49"/>
    </p:embeddedFont>
    <p:embeddedFont>
      <p:font typeface="Comic Sans Bold" charset="1" panose="03000902030302020204"/>
      <p:regular r:id="rId53"/>
    </p:embeddedFont>
    <p:embeddedFont>
      <p:font typeface="Comic Sans Italics" charset="1" panose="03000702030302060204"/>
      <p:regular r:id="rId57"/>
    </p:embeddedFont>
    <p:embeddedFont>
      <p:font typeface="Calibri (MS) Bold" charset="1" panose="020F0702030404030204"/>
      <p:regular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notesSlides/notesSlide4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notesSlides/notesSlide5.xml" Type="http://schemas.openxmlformats.org/officeDocument/2006/relationships/notesSlide"/><Relationship Id="rId47" Target="notesSlides/notesSlide6.xml" Type="http://schemas.openxmlformats.org/officeDocument/2006/relationships/notesSlide"/><Relationship Id="rId48" Target="notesSlides/notesSlide7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8.xml" Type="http://schemas.openxmlformats.org/officeDocument/2006/relationships/notesSlide"/><Relationship Id="rId51" Target="notesSlides/notesSlide9.xml" Type="http://schemas.openxmlformats.org/officeDocument/2006/relationships/notesSlide"/><Relationship Id="rId52" Target="notesSlides/notesSlide10.xml" Type="http://schemas.openxmlformats.org/officeDocument/2006/relationships/notesSlide"/><Relationship Id="rId53" Target="fonts/font53.fntdata" Type="http://schemas.openxmlformats.org/officeDocument/2006/relationships/font"/><Relationship Id="rId54" Target="notesSlides/notesSlide11.xml" Type="http://schemas.openxmlformats.org/officeDocument/2006/relationships/notesSlide"/><Relationship Id="rId55" Target="notesSlides/notesSlide12.xml" Type="http://schemas.openxmlformats.org/officeDocument/2006/relationships/notesSlide"/><Relationship Id="rId56" Target="notesSlides/notesSlide13.xml" Type="http://schemas.openxmlformats.org/officeDocument/2006/relationships/notesSlide"/><Relationship Id="rId57" Target="fonts/font57.fntdata" Type="http://schemas.openxmlformats.org/officeDocument/2006/relationships/font"/><Relationship Id="rId58" Target="notesSlides/notesSlide14.xml" Type="http://schemas.openxmlformats.org/officeDocument/2006/relationships/notesSlide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notesSlides/notesSlide15.xml" Type="http://schemas.openxmlformats.org/officeDocument/2006/relationships/notesSlide"/><Relationship Id="rId61" Target="notesSlides/notesSlide16.xml" Type="http://schemas.openxmlformats.org/officeDocument/2006/relationships/notesSlide"/><Relationship Id="rId62" Target="notesSlides/notesSlide17.xml" Type="http://schemas.openxmlformats.org/officeDocument/2006/relationships/notesSlide"/><Relationship Id="rId63" Target="notesSlides/notesSlide18.xml" Type="http://schemas.openxmlformats.org/officeDocument/2006/relationships/notesSlide"/><Relationship Id="rId64" Target="notesSlides/notesSlide19.xml" Type="http://schemas.openxmlformats.org/officeDocument/2006/relationships/notesSlide"/><Relationship Id="rId65" Target="notesSlides/notesSlide20.xml" Type="http://schemas.openxmlformats.org/officeDocument/2006/relationships/notesSlide"/><Relationship Id="rId66" Target="notesSlides/notesSlide21.xml" Type="http://schemas.openxmlformats.org/officeDocument/2006/relationships/notesSlide"/><Relationship Id="rId67" Target="notesSlides/notesSlide22.xml" Type="http://schemas.openxmlformats.org/officeDocument/2006/relationships/notesSlide"/><Relationship Id="rId68" Target="notesSlides/notesSlide23.xml" Type="http://schemas.openxmlformats.org/officeDocument/2006/relationships/notesSlide"/><Relationship Id="rId69" Target="notesSlides/notesSlide24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5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3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3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3.jpe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3.jpe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2" Target="../notesSlides/notesSlide21.xml" Type="http://schemas.openxmlformats.org/officeDocument/2006/relationships/notesSlide"/><Relationship Id="rId3" Target="../media/image3.jpe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3.jpe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12" Target="../media/image52.png" Type="http://schemas.openxmlformats.org/officeDocument/2006/relationships/image"/><Relationship Id="rId13" Target="../media/image53.svg" Type="http://schemas.openxmlformats.org/officeDocument/2006/relationships/image"/><Relationship Id="rId14" Target="../media/image54.png" Type="http://schemas.openxmlformats.org/officeDocument/2006/relationships/image"/><Relationship Id="rId15" Target="../media/image55.svg" Type="http://schemas.openxmlformats.org/officeDocument/2006/relationships/image"/><Relationship Id="rId2" Target="../notesSlides/notesSlide23.xml" Type="http://schemas.openxmlformats.org/officeDocument/2006/relationships/notesSlide"/><Relationship Id="rId3" Target="../media/image3.jpe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3.jpe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42784" y="1617612"/>
            <a:ext cx="8413481" cy="8760733"/>
            <a:chOff x="0" y="0"/>
            <a:chExt cx="23725266" cy="247044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25267" cy="24704487"/>
            </a:xfrm>
            <a:custGeom>
              <a:avLst/>
              <a:gdLst/>
              <a:ahLst/>
              <a:cxnLst/>
              <a:rect r="r" b="b" t="t" l="l"/>
              <a:pathLst>
                <a:path h="24704487" w="23725267">
                  <a:moveTo>
                    <a:pt x="0" y="0"/>
                  </a:moveTo>
                  <a:lnTo>
                    <a:pt x="23725267" y="0"/>
                  </a:lnTo>
                  <a:lnTo>
                    <a:pt x="23725267" y="24704487"/>
                  </a:lnTo>
                  <a:lnTo>
                    <a:pt x="0" y="24704487"/>
                  </a:lnTo>
                  <a:close/>
                </a:path>
              </a:pathLst>
            </a:custGeom>
            <a:blipFill>
              <a:blip r:embed="rId3"/>
              <a:stretch>
                <a:fillRect l="-1136" t="0" r="-113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61792" y="1801044"/>
            <a:ext cx="10195748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1D3B7D"/>
                </a:solidFill>
                <a:latin typeface="Arial Bold"/>
                <a:ea typeface="Arial Bold"/>
                <a:cs typeface="Arial Bold"/>
                <a:sym typeface="Arial Bold"/>
              </a:rPr>
              <a:t>Pro</a:t>
            </a:r>
            <a:r>
              <a:rPr lang="en-US" b="true" sz="5400">
                <a:solidFill>
                  <a:srgbClr val="1D3B7D"/>
                </a:solidFill>
                <a:latin typeface="Arial Bold"/>
                <a:ea typeface="Arial Bold"/>
                <a:cs typeface="Arial Bold"/>
                <a:sym typeface="Arial Bold"/>
              </a:rPr>
              <a:t>duct &amp; Order Management</a:t>
            </a:r>
          </a:p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1D3B7D"/>
                </a:solidFill>
                <a:latin typeface="Arial Bold"/>
                <a:ea typeface="Arial Bold"/>
                <a:cs typeface="Arial Bold"/>
                <a:sym typeface="Arial Bold"/>
              </a:rPr>
              <a:t>(E-Commerce Domain)</a:t>
            </a:r>
          </a:p>
          <a:p>
            <a:pPr algn="l">
              <a:lnSpc>
                <a:spcPts val="6480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1306021" y="2025535"/>
            <a:ext cx="0" cy="1423749"/>
          </a:xfrm>
          <a:prstGeom prst="line">
            <a:avLst/>
          </a:prstGeom>
          <a:ln cap="rnd" w="57150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012697" y="764267"/>
            <a:ext cx="1438732" cy="762000"/>
            <a:chOff x="0" y="0"/>
            <a:chExt cx="1918310" cy="1016000"/>
          </a:xfrm>
        </p:grpSpPr>
        <p:sp>
          <p:nvSpPr>
            <p:cNvPr name="Freeform 7" id="7" descr="Logo  Description automatically generated"/>
            <p:cNvSpPr/>
            <p:nvPr/>
          </p:nvSpPr>
          <p:spPr>
            <a:xfrm flipH="false" flipV="false" rot="0">
              <a:off x="0" y="0"/>
              <a:ext cx="1918335" cy="1016000"/>
            </a:xfrm>
            <a:custGeom>
              <a:avLst/>
              <a:gdLst/>
              <a:ahLst/>
              <a:cxnLst/>
              <a:rect r="r" b="b" t="t" l="l"/>
              <a:pathLst>
                <a:path h="1016000" w="1918335">
                  <a:moveTo>
                    <a:pt x="0" y="0"/>
                  </a:moveTo>
                  <a:lnTo>
                    <a:pt x="1918335" y="0"/>
                  </a:lnTo>
                  <a:lnTo>
                    <a:pt x="1918335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4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61792" y="4896669"/>
            <a:ext cx="8751951" cy="493663"/>
            <a:chOff x="0" y="0"/>
            <a:chExt cx="11669268" cy="6582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69266" cy="658217"/>
            </a:xfrm>
            <a:custGeom>
              <a:avLst/>
              <a:gdLst/>
              <a:ahLst/>
              <a:cxnLst/>
              <a:rect r="r" b="b" t="t" l="l"/>
              <a:pathLst>
                <a:path h="658217" w="11669266">
                  <a:moveTo>
                    <a:pt x="0" y="0"/>
                  </a:moveTo>
                  <a:lnTo>
                    <a:pt x="11669266" y="0"/>
                  </a:lnTo>
                  <a:lnTo>
                    <a:pt x="11669266" y="658217"/>
                  </a:lnTo>
                  <a:lnTo>
                    <a:pt x="0" y="6582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8035" r="0" b="-2828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1669268" cy="667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3F3F3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02 April 2026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61792" y="5997979"/>
            <a:ext cx="3186038" cy="1057246"/>
            <a:chOff x="0" y="0"/>
            <a:chExt cx="4248051" cy="14096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48050" cy="1409660"/>
            </a:xfrm>
            <a:custGeom>
              <a:avLst/>
              <a:gdLst/>
              <a:ahLst/>
              <a:cxnLst/>
              <a:rect r="r" b="b" t="t" l="l"/>
              <a:pathLst>
                <a:path h="1409660" w="4248050">
                  <a:moveTo>
                    <a:pt x="0" y="0"/>
                  </a:moveTo>
                  <a:lnTo>
                    <a:pt x="4248050" y="0"/>
                  </a:lnTo>
                  <a:lnTo>
                    <a:pt x="4248050" y="1409660"/>
                  </a:lnTo>
                  <a:lnTo>
                    <a:pt x="0" y="14096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3831" r="-174697" b="-7876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248051" cy="1438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3F3F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Macro Project</a:t>
              </a:r>
            </a:p>
            <a:p>
              <a:pPr algn="l">
                <a:lnSpc>
                  <a:spcPts val="3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61792" y="7662872"/>
            <a:ext cx="8751951" cy="557752"/>
            <a:chOff x="0" y="0"/>
            <a:chExt cx="11669268" cy="7436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69266" cy="743668"/>
            </a:xfrm>
            <a:custGeom>
              <a:avLst/>
              <a:gdLst/>
              <a:ahLst/>
              <a:cxnLst/>
              <a:rect r="r" b="b" t="t" l="l"/>
              <a:pathLst>
                <a:path h="743668" w="11669266">
                  <a:moveTo>
                    <a:pt x="0" y="0"/>
                  </a:moveTo>
                  <a:lnTo>
                    <a:pt x="11669266" y="0"/>
                  </a:lnTo>
                  <a:lnTo>
                    <a:pt x="11669266" y="743668"/>
                  </a:lnTo>
                  <a:lnTo>
                    <a:pt x="0" y="7436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640" r="0" b="-2388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1669268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b="true" sz="2699">
                  <a:solidFill>
                    <a:srgbClr val="3F3F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Trainer</a:t>
              </a:r>
              <a:r>
                <a:rPr lang="en-US" sz="2699" i="true">
                  <a:solidFill>
                    <a:srgbClr val="3F3F3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 : </a:t>
              </a:r>
              <a:r>
                <a:rPr lang="en-US" sz="2699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Arun Kumar G.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83958" y="9540697"/>
            <a:ext cx="901608" cy="477317"/>
            <a:chOff x="0" y="0"/>
            <a:chExt cx="1202144" cy="636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182" cy="636397"/>
            </a:xfrm>
            <a:custGeom>
              <a:avLst/>
              <a:gdLst/>
              <a:ahLst/>
              <a:cxnLst/>
              <a:rect r="r" b="b" t="t" l="l"/>
              <a:pathLst>
                <a:path h="636397" w="1202182">
                  <a:moveTo>
                    <a:pt x="0" y="0"/>
                  </a:moveTo>
                  <a:lnTo>
                    <a:pt x="1202182" y="0"/>
                  </a:lnTo>
                  <a:lnTo>
                    <a:pt x="1202182" y="636397"/>
                  </a:lnTo>
                  <a:lnTo>
                    <a:pt x="0" y="636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-1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19424" y="0"/>
            <a:ext cx="8268576" cy="10286990"/>
            <a:chOff x="0" y="0"/>
            <a:chExt cx="11024768" cy="13715987"/>
          </a:xfrm>
        </p:grpSpPr>
        <p:sp>
          <p:nvSpPr>
            <p:cNvPr name="Freeform 5" id="5" descr="A person pointing at a paper  AI-generated content may be incorrect."/>
            <p:cNvSpPr/>
            <p:nvPr/>
          </p:nvSpPr>
          <p:spPr>
            <a:xfrm flipH="false" flipV="false" rot="0">
              <a:off x="0" y="0"/>
              <a:ext cx="1102474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024743">
                  <a:moveTo>
                    <a:pt x="0" y="0"/>
                  </a:moveTo>
                  <a:lnTo>
                    <a:pt x="11024743" y="0"/>
                  </a:lnTo>
                  <a:lnTo>
                    <a:pt x="1102474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103" t="0" r="-33499" b="-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019414" y="0"/>
            <a:ext cx="8268576" cy="10286990"/>
            <a:chOff x="0" y="0"/>
            <a:chExt cx="11024768" cy="13715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2474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024743">
                  <a:moveTo>
                    <a:pt x="0" y="0"/>
                  </a:moveTo>
                  <a:lnTo>
                    <a:pt x="11024743" y="0"/>
                  </a:lnTo>
                  <a:lnTo>
                    <a:pt x="11024743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FE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5161" y="2190745"/>
            <a:ext cx="9224262" cy="673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94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The Problem</a:t>
            </a:r>
          </a:p>
          <a:p>
            <a:pPr algn="l">
              <a:lnSpc>
                <a:spcPts val="3528"/>
              </a:lnSpc>
              <a:spcBef>
                <a:spcPct val="0"/>
              </a:spcBef>
            </a:pPr>
            <a:r>
              <a:rPr lang="en-US" sz="294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E-commerce operations are scattered — pr</a:t>
            </a:r>
            <a:r>
              <a:rPr lang="en-US" sz="294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oducts, orders, inventory, and logs are not managed in one unified system.</a:t>
            </a:r>
          </a:p>
          <a:p>
            <a:pPr algn="ctr">
              <a:lnSpc>
                <a:spcPts val="3528"/>
              </a:lnSpc>
              <a:spcBef>
                <a:spcPct val="0"/>
              </a:spcBef>
            </a:pPr>
          </a:p>
          <a:p>
            <a:pPr algn="l">
              <a:lnSpc>
                <a:spcPts val="3528"/>
              </a:lnSpc>
              <a:spcBef>
                <a:spcPct val="0"/>
              </a:spcBef>
            </a:pPr>
            <a:r>
              <a:rPr lang="en-US" b="true" sz="29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  <a:r>
              <a:rPr lang="en-US" sz="29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b="true" sz="29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</a:t>
            </a:r>
          </a:p>
          <a:p>
            <a:pPr algn="l" marL="634846" indent="-317423" lvl="1">
              <a:lnSpc>
                <a:spcPts val="3528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Wrong stock levels</a:t>
            </a:r>
          </a:p>
          <a:p>
            <a:pPr algn="l" marL="634846" indent="-317423" lvl="1">
              <a:lnSpc>
                <a:spcPts val="3528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Delayed/failed order updates</a:t>
            </a:r>
          </a:p>
          <a:p>
            <a:pPr algn="l" marL="634846" indent="-317423" lvl="1">
              <a:lnSpc>
                <a:spcPts val="3528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Confusing order tracking</a:t>
            </a:r>
          </a:p>
          <a:p>
            <a:pPr algn="l" marL="634846" indent="-317423" lvl="1">
              <a:lnSpc>
                <a:spcPts val="3528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No audit trail</a:t>
            </a:r>
          </a:p>
          <a:p>
            <a:pPr algn="l">
              <a:lnSpc>
                <a:spcPts val="3528"/>
              </a:lnSpc>
              <a:spcBef>
                <a:spcPct val="0"/>
              </a:spcBef>
            </a:pPr>
          </a:p>
          <a:p>
            <a:pPr algn="l">
              <a:lnSpc>
                <a:spcPts val="3528"/>
              </a:lnSpc>
              <a:spcBef>
                <a:spcPct val="0"/>
              </a:spcBef>
            </a:pPr>
            <a:r>
              <a:rPr lang="en-US" b="true" sz="29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</a:t>
            </a:r>
            <a:r>
              <a:rPr lang="en-US" b="true" sz="29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Need</a:t>
            </a:r>
          </a:p>
          <a:p>
            <a:pPr algn="l">
              <a:lnSpc>
                <a:spcPts val="3528"/>
              </a:lnSpc>
              <a:spcBef>
                <a:spcPct val="0"/>
              </a:spcBef>
            </a:pPr>
            <a:r>
              <a:rPr lang="en-US" sz="294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 centralized system to manage products, orders, inventory, and activity logs securely.</a:t>
            </a:r>
          </a:p>
          <a:p>
            <a:pPr algn="ctr">
              <a:lnSpc>
                <a:spcPts val="3528"/>
              </a:lnSpc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>
            <a:off x="795161" y="1414462"/>
            <a:ext cx="141829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795161" y="2209795"/>
            <a:ext cx="384581" cy="336509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0851" y="4436992"/>
            <a:ext cx="438892" cy="43889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95161" y="647700"/>
            <a:ext cx="557619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1D3B7D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09254" y="7120343"/>
            <a:ext cx="438892" cy="43889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55383" y="9540697"/>
            <a:ext cx="901608" cy="477317"/>
            <a:chOff x="0" y="0"/>
            <a:chExt cx="1202144" cy="636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182" cy="636397"/>
            </a:xfrm>
            <a:custGeom>
              <a:avLst/>
              <a:gdLst/>
              <a:ahLst/>
              <a:cxnLst/>
              <a:rect r="r" b="b" t="t" l="l"/>
              <a:pathLst>
                <a:path h="636397" w="1202182">
                  <a:moveTo>
                    <a:pt x="0" y="0"/>
                  </a:moveTo>
                  <a:lnTo>
                    <a:pt x="1202182" y="0"/>
                  </a:lnTo>
                  <a:lnTo>
                    <a:pt x="1202182" y="636397"/>
                  </a:lnTo>
                  <a:lnTo>
                    <a:pt x="0" y="636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-10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046115" y="0"/>
            <a:ext cx="7241885" cy="10287000"/>
          </a:xfrm>
          <a:custGeom>
            <a:avLst/>
            <a:gdLst/>
            <a:ahLst/>
            <a:cxnLst/>
            <a:rect r="r" b="b" t="t" l="l"/>
            <a:pathLst>
              <a:path h="10287000" w="7241885">
                <a:moveTo>
                  <a:pt x="0" y="0"/>
                </a:moveTo>
                <a:lnTo>
                  <a:pt x="7241885" y="0"/>
                </a:lnTo>
                <a:lnTo>
                  <a:pt x="72418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</a:blip>
            <a:stretch>
              <a:fillRect l="-2553" t="-1672" r="0" b="-167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34947"/>
            <a:ext cx="8928020" cy="790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US" b="true" sz="2931">
                <a:solidFill>
                  <a:srgbClr val="3F3F3F"/>
                </a:solidFill>
                <a:latin typeface="Arial Bold"/>
                <a:ea typeface="Arial Bold"/>
                <a:cs typeface="Arial Bold"/>
                <a:sym typeface="Arial Bold"/>
              </a:rPr>
              <a:t>Unified Management Platform</a:t>
            </a:r>
          </a:p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US" sz="2931">
                <a:solidFill>
                  <a:srgbClr val="3F3F3F"/>
                </a:solidFill>
                <a:latin typeface="Comic Sans"/>
                <a:ea typeface="Comic Sans"/>
                <a:cs typeface="Comic Sans"/>
                <a:sym typeface="Comic Sans"/>
              </a:rPr>
              <a:t>A single system that manages products, categories, orders, inventory, and logs in one place tested on a real sales dataset of amazon 2023 </a:t>
            </a:r>
          </a:p>
          <a:p>
            <a:pPr algn="l">
              <a:lnSpc>
                <a:spcPts val="3518"/>
              </a:lnSpc>
              <a:spcBef>
                <a:spcPct val="0"/>
              </a:spcBef>
            </a:pPr>
          </a:p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US" b="true" sz="2931">
                <a:solidFill>
                  <a:srgbClr val="3F3F3F"/>
                </a:solidFill>
                <a:latin typeface="Arial Bold"/>
                <a:ea typeface="Arial Bold"/>
                <a:cs typeface="Arial Bold"/>
                <a:sym typeface="Arial Bold"/>
              </a:rPr>
              <a:t>Automated Order &amp; Inventory Flow</a:t>
            </a:r>
          </a:p>
          <a:p>
            <a:pPr algn="l" marL="632970" indent="-316485" lvl="1">
              <a:lnSpc>
                <a:spcPts val="3518"/>
              </a:lnSpc>
              <a:buFont typeface="Arial"/>
              <a:buChar char="•"/>
            </a:pPr>
            <a:r>
              <a:rPr lang="en-US" sz="2931">
                <a:solidFill>
                  <a:srgbClr val="3F3F3F"/>
                </a:solidFill>
                <a:latin typeface="Comic Sans"/>
                <a:ea typeface="Comic Sans"/>
                <a:cs typeface="Comic Sans"/>
                <a:sym typeface="Comic Sans"/>
              </a:rPr>
              <a:t>Real-time stock deduction on order</a:t>
            </a:r>
          </a:p>
          <a:p>
            <a:pPr algn="l" marL="632970" indent="-316485" lvl="1">
              <a:lnSpc>
                <a:spcPts val="3518"/>
              </a:lnSpc>
              <a:buFont typeface="Arial"/>
              <a:buChar char="•"/>
            </a:pPr>
            <a:r>
              <a:rPr lang="en-US" sz="2931">
                <a:solidFill>
                  <a:srgbClr val="3F3F3F"/>
                </a:solidFill>
                <a:latin typeface="Comic Sans"/>
                <a:ea typeface="Comic Sans"/>
                <a:cs typeface="Comic Sans"/>
                <a:sym typeface="Comic Sans"/>
              </a:rPr>
              <a:t>Order lifecycle tracking (Pending → Placed → Shipped → Delivered → Cancelled)</a:t>
            </a:r>
          </a:p>
          <a:p>
            <a:pPr algn="l">
              <a:lnSpc>
                <a:spcPts val="3518"/>
              </a:lnSpc>
              <a:spcBef>
                <a:spcPct val="0"/>
              </a:spcBef>
            </a:pPr>
          </a:p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US" b="true" sz="2931">
                <a:solidFill>
                  <a:srgbClr val="3F3F3F"/>
                </a:solidFill>
                <a:latin typeface="Arial Bold"/>
                <a:ea typeface="Arial Bold"/>
                <a:cs typeface="Arial Bold"/>
                <a:sym typeface="Arial Bold"/>
              </a:rPr>
              <a:t>Secure Access</a:t>
            </a:r>
          </a:p>
          <a:p>
            <a:pPr algn="l" marL="632970" indent="-316485" lvl="1">
              <a:lnSpc>
                <a:spcPts val="3518"/>
              </a:lnSpc>
              <a:buFont typeface="Arial"/>
              <a:buChar char="•"/>
            </a:pPr>
            <a:r>
              <a:rPr lang="en-US" sz="2931">
                <a:solidFill>
                  <a:srgbClr val="3F3F3F"/>
                </a:solidFill>
                <a:latin typeface="Comic Sans"/>
                <a:ea typeface="Comic Sans"/>
                <a:cs typeface="Comic Sans"/>
                <a:sym typeface="Comic Sans"/>
              </a:rPr>
              <a:t>Google </a:t>
            </a:r>
            <a:r>
              <a:rPr lang="en-US" sz="2931">
                <a:solidFill>
                  <a:srgbClr val="3F3F3F"/>
                </a:solidFill>
                <a:latin typeface="Comic Sans"/>
                <a:ea typeface="Comic Sans"/>
                <a:cs typeface="Comic Sans"/>
                <a:sym typeface="Comic Sans"/>
              </a:rPr>
              <a:t>OAuth login</a:t>
            </a:r>
          </a:p>
          <a:p>
            <a:pPr algn="l" marL="632970" indent="-316485" lvl="1">
              <a:lnSpc>
                <a:spcPts val="3518"/>
              </a:lnSpc>
              <a:buFont typeface="Arial"/>
              <a:buChar char="•"/>
            </a:pPr>
            <a:r>
              <a:rPr lang="en-US" sz="2931">
                <a:solidFill>
                  <a:srgbClr val="3F3F3F"/>
                </a:solidFill>
                <a:latin typeface="Comic Sans"/>
                <a:ea typeface="Comic Sans"/>
                <a:cs typeface="Comic Sans"/>
                <a:sym typeface="Comic Sans"/>
              </a:rPr>
              <a:t>JWT-protected APIs</a:t>
            </a:r>
          </a:p>
          <a:p>
            <a:pPr algn="l" marL="632970" indent="-316485" lvl="1">
              <a:lnSpc>
                <a:spcPts val="3518"/>
              </a:lnSpc>
              <a:buFont typeface="Arial"/>
              <a:buChar char="•"/>
            </a:pPr>
            <a:r>
              <a:rPr lang="en-US" sz="2931">
                <a:solidFill>
                  <a:srgbClr val="3F3F3F"/>
                </a:solidFill>
                <a:latin typeface="Comic Sans"/>
                <a:ea typeface="Comic Sans"/>
                <a:cs typeface="Comic Sans"/>
                <a:sym typeface="Comic Sans"/>
              </a:rPr>
              <a:t>Role-based access (Admin / Customer)</a:t>
            </a:r>
          </a:p>
          <a:p>
            <a:pPr algn="l">
              <a:lnSpc>
                <a:spcPts val="3518"/>
              </a:lnSpc>
              <a:spcBef>
                <a:spcPct val="0"/>
              </a:spcBef>
            </a:pPr>
          </a:p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US" b="true" sz="2931">
                <a:solidFill>
                  <a:srgbClr val="3F3F3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931">
                <a:solidFill>
                  <a:srgbClr val="3F3F3F"/>
                </a:solidFill>
                <a:latin typeface="Arial Bold"/>
                <a:ea typeface="Arial Bold"/>
                <a:cs typeface="Arial Bold"/>
                <a:sym typeface="Arial Bold"/>
              </a:rPr>
              <a:t>Complete Activity Logging</a:t>
            </a:r>
          </a:p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US" sz="2931">
                <a:solidFill>
                  <a:srgbClr val="3F3F3F"/>
                </a:solidFill>
                <a:latin typeface="Comic Sans"/>
                <a:ea typeface="Comic Sans"/>
                <a:cs typeface="Comic Sans"/>
                <a:sym typeface="Comic Sans"/>
              </a:rPr>
              <a:t>All actions (orders, product updates, auth events) stored in MongoDB logs for monitoring &amp; audits.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1414462"/>
            <a:ext cx="141829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17798" y="1659744"/>
            <a:ext cx="404708" cy="40470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647700"/>
            <a:ext cx="557619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1D3B7D"/>
                </a:solidFill>
                <a:latin typeface="Arial Bold"/>
                <a:ea typeface="Arial Bold"/>
                <a:cs typeface="Arial Bold"/>
                <a:sym typeface="Arial Bold"/>
              </a:rPr>
              <a:t>Our Solution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7798" y="3855152"/>
            <a:ext cx="404708" cy="4047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7798" y="6049823"/>
            <a:ext cx="404708" cy="40470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7798" y="8244493"/>
            <a:ext cx="404708" cy="40470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3025" y="2784824"/>
            <a:ext cx="979018" cy="1362335"/>
            <a:chOff x="0" y="0"/>
            <a:chExt cx="1305357" cy="1816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5356" cy="1816450"/>
            </a:xfrm>
            <a:custGeom>
              <a:avLst/>
              <a:gdLst/>
              <a:ahLst/>
              <a:cxnLst/>
              <a:rect r="r" b="b" t="t" l="l"/>
              <a:pathLst>
                <a:path h="1816450" w="1305356">
                  <a:moveTo>
                    <a:pt x="0" y="0"/>
                  </a:moveTo>
                  <a:lnTo>
                    <a:pt x="1305356" y="0"/>
                  </a:lnTo>
                  <a:lnTo>
                    <a:pt x="1305356" y="1816450"/>
                  </a:lnTo>
                  <a:lnTo>
                    <a:pt x="0" y="1816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05" t="0" r="-83105" b="2544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5357" cy="1854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0" y="819701"/>
          <a:ext cx="18288000" cy="9620250"/>
        </p:xfrm>
        <a:graphic>
          <a:graphicData uri="http://schemas.openxmlformats.org/drawingml/2006/table">
            <a:tbl>
              <a:tblPr/>
              <a:tblGrid>
                <a:gridCol w="2944950"/>
                <a:gridCol w="15343050"/>
              </a:tblGrid>
              <a:tr h="9275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7F7F7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7F7F7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Task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01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Mohammad Rustam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Designed and developed the complete Inventory Management system (frontend + backend) with dashboard architecture and initial UI/UX design.Handled frontend routing, structured scalable project architecture, and integrated all modules end-to-end.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Nikhil 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6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Engineered core shopping interfaces (Homepage, Catalog, Wishlist) powered by a custom weighted search engine with dynamic pagination, and real-time discount sorting while utilizing a processed Amazon sales dataset for real-world product catalog.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01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Om Jadhav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Built REST APIs for order management with full lifecycle tracking and admin controls. Developed customer order history and admin orders page with search, filters, sorting and pagination.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01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Madhur Suresh Rao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Developed the Cart interface end-to-end, handling backend logic, API integration, and frontend UI, ensuring seamless interaction with wishlist, and order modules.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01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Kalpana Meena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Implemented admin Category Management system, where CRUD operations are handled through backend APIs, along with search using debouncing, sorting, and pagination to ensure efficient data handling and performance.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01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Mohammed Faizan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Engineered a scalable audit and activity logging system capturing authentication, admin actions, and order lifecycle events. Implemented non-blocking logging, structured MongoDB collections, and integrated log monitoring via admin dashboard.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9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Nikhil Kumar Gupta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Worked on the backend development, handling all routes, authentication, and middleware implementation related to USER. I builtAPIs with JWT, OTP verification, and role-based access. I also managed user operations and overall request flow.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01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Pankaj Kumar Rai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Developed frontend for Login, User Profile, and Admin Profile with role-based functionality.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Implemented CRUD operations for user management including profile update, account deletion, and data retrieval.</a:t>
                      </a:r>
                      <a:endParaRPr lang="en-US" sz="1100"/>
                    </a:p>
                  </a:txBody>
                  <a:tcPr marL="190500" marR="190500" marT="190500" marB="190500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787085" y="-9525"/>
            <a:ext cx="1088322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1D3B7D"/>
                </a:solidFill>
                <a:latin typeface="Arial Bold"/>
                <a:ea typeface="Arial Bold"/>
                <a:cs typeface="Arial Bold"/>
                <a:sym typeface="Arial Bold"/>
              </a:rPr>
              <a:t> Members and their responsibilities</a:t>
            </a:r>
          </a:p>
        </p:txBody>
      </p:sp>
      <p:sp>
        <p:nvSpPr>
          <p:cNvPr name="AutoShape 7" id="7"/>
          <p:cNvSpPr/>
          <p:nvPr/>
        </p:nvSpPr>
        <p:spPr>
          <a:xfrm>
            <a:off x="1043387" y="623888"/>
            <a:ext cx="141829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476" y="661225"/>
            <a:ext cx="17345190" cy="9330081"/>
          </a:xfrm>
          <a:custGeom>
            <a:avLst/>
            <a:gdLst/>
            <a:ahLst/>
            <a:cxnLst/>
            <a:rect r="r" b="b" t="t" l="l"/>
            <a:pathLst>
              <a:path h="9330081" w="17345190">
                <a:moveTo>
                  <a:pt x="0" y="0"/>
                </a:moveTo>
                <a:lnTo>
                  <a:pt x="17345189" y="0"/>
                </a:lnTo>
                <a:lnTo>
                  <a:pt x="17345189" y="9330081"/>
                </a:lnTo>
                <a:lnTo>
                  <a:pt x="0" y="9330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330" r="0" b="-16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1100" y="800100"/>
            <a:ext cx="557619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1D3B7D"/>
                </a:solidFill>
                <a:latin typeface="Arial Bold"/>
                <a:ea typeface="Arial Bold"/>
                <a:cs typeface="Arial Bold"/>
                <a:sym typeface="Arial Bold"/>
              </a:rPr>
              <a:t>Tech Stack</a:t>
            </a:r>
          </a:p>
        </p:txBody>
      </p:sp>
      <p:sp>
        <p:nvSpPr>
          <p:cNvPr name="AutoShape 4" id="4"/>
          <p:cNvSpPr/>
          <p:nvPr/>
        </p:nvSpPr>
        <p:spPr>
          <a:xfrm>
            <a:off x="1325229" y="1566862"/>
            <a:ext cx="141829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639175" y="5897880"/>
            <a:ext cx="1713548" cy="354330"/>
            <a:chOff x="0" y="0"/>
            <a:chExt cx="2284730" cy="472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9588" y="47966"/>
              <a:ext cx="2186882" cy="382351"/>
            </a:xfrm>
            <a:custGeom>
              <a:avLst/>
              <a:gdLst/>
              <a:ahLst/>
              <a:cxnLst/>
              <a:rect r="r" b="b" t="t" l="l"/>
              <a:pathLst>
                <a:path h="382351" w="2186882">
                  <a:moveTo>
                    <a:pt x="471112" y="222544"/>
                  </a:moveTo>
                  <a:cubicBezTo>
                    <a:pt x="900372" y="211114"/>
                    <a:pt x="1278832" y="150154"/>
                    <a:pt x="1366462" y="174284"/>
                  </a:cubicBezTo>
                  <a:cubicBezTo>
                    <a:pt x="1393132" y="180634"/>
                    <a:pt x="1403292" y="190794"/>
                    <a:pt x="1413452" y="206034"/>
                  </a:cubicBezTo>
                  <a:cubicBezTo>
                    <a:pt x="1423612" y="220004"/>
                    <a:pt x="1429962" y="242864"/>
                    <a:pt x="1427422" y="259374"/>
                  </a:cubicBezTo>
                  <a:cubicBezTo>
                    <a:pt x="1426152" y="277154"/>
                    <a:pt x="1414722" y="298744"/>
                    <a:pt x="1402022" y="310174"/>
                  </a:cubicBezTo>
                  <a:cubicBezTo>
                    <a:pt x="1389322" y="321604"/>
                    <a:pt x="1376622" y="324144"/>
                    <a:pt x="1349952" y="330494"/>
                  </a:cubicBezTo>
                  <a:cubicBezTo>
                    <a:pt x="1261052" y="349544"/>
                    <a:pt x="871162" y="399074"/>
                    <a:pt x="768292" y="355894"/>
                  </a:cubicBezTo>
                  <a:cubicBezTo>
                    <a:pt x="721302" y="335574"/>
                    <a:pt x="684472" y="291124"/>
                    <a:pt x="684472" y="260644"/>
                  </a:cubicBezTo>
                  <a:cubicBezTo>
                    <a:pt x="684472" y="233974"/>
                    <a:pt x="720032" y="200954"/>
                    <a:pt x="754322" y="184444"/>
                  </a:cubicBezTo>
                  <a:cubicBezTo>
                    <a:pt x="806392" y="159044"/>
                    <a:pt x="900372" y="179364"/>
                    <a:pt x="984192" y="170474"/>
                  </a:cubicBezTo>
                  <a:cubicBezTo>
                    <a:pt x="1089602" y="161584"/>
                    <a:pt x="1276292" y="123484"/>
                    <a:pt x="1334712" y="127294"/>
                  </a:cubicBezTo>
                  <a:cubicBezTo>
                    <a:pt x="1353762" y="127294"/>
                    <a:pt x="1362652" y="129834"/>
                    <a:pt x="1374082" y="136184"/>
                  </a:cubicBezTo>
                  <a:cubicBezTo>
                    <a:pt x="1385512" y="142534"/>
                    <a:pt x="1396942" y="152694"/>
                    <a:pt x="1404562" y="162854"/>
                  </a:cubicBezTo>
                  <a:cubicBezTo>
                    <a:pt x="1412182" y="174284"/>
                    <a:pt x="1417262" y="188254"/>
                    <a:pt x="1418532" y="200954"/>
                  </a:cubicBezTo>
                  <a:cubicBezTo>
                    <a:pt x="1419802" y="213654"/>
                    <a:pt x="1419802" y="228894"/>
                    <a:pt x="1413452" y="241594"/>
                  </a:cubicBezTo>
                  <a:cubicBezTo>
                    <a:pt x="1407102" y="256834"/>
                    <a:pt x="1389322" y="277154"/>
                    <a:pt x="1374082" y="286044"/>
                  </a:cubicBezTo>
                  <a:cubicBezTo>
                    <a:pt x="1361382" y="293664"/>
                    <a:pt x="1355032" y="293664"/>
                    <a:pt x="1334712" y="296204"/>
                  </a:cubicBezTo>
                  <a:cubicBezTo>
                    <a:pt x="1267402" y="305094"/>
                    <a:pt x="974032" y="317794"/>
                    <a:pt x="899102" y="297474"/>
                  </a:cubicBezTo>
                  <a:cubicBezTo>
                    <a:pt x="872432" y="289854"/>
                    <a:pt x="858462" y="282234"/>
                    <a:pt x="847032" y="266994"/>
                  </a:cubicBezTo>
                  <a:cubicBezTo>
                    <a:pt x="834332" y="253024"/>
                    <a:pt x="826712" y="228894"/>
                    <a:pt x="826712" y="209844"/>
                  </a:cubicBezTo>
                  <a:cubicBezTo>
                    <a:pt x="827982" y="190794"/>
                    <a:pt x="839412" y="166664"/>
                    <a:pt x="850842" y="153964"/>
                  </a:cubicBezTo>
                  <a:cubicBezTo>
                    <a:pt x="859732" y="142534"/>
                    <a:pt x="867352" y="137454"/>
                    <a:pt x="885132" y="131104"/>
                  </a:cubicBezTo>
                  <a:cubicBezTo>
                    <a:pt x="932122" y="117134"/>
                    <a:pt x="1047692" y="132374"/>
                    <a:pt x="1154372" y="122214"/>
                  </a:cubicBezTo>
                  <a:cubicBezTo>
                    <a:pt x="1313122" y="106974"/>
                    <a:pt x="1609032" y="43474"/>
                    <a:pt x="1743652" y="28234"/>
                  </a:cubicBezTo>
                  <a:cubicBezTo>
                    <a:pt x="1812232" y="19344"/>
                    <a:pt x="1845252" y="19344"/>
                    <a:pt x="1902402" y="16804"/>
                  </a:cubicBezTo>
                  <a:cubicBezTo>
                    <a:pt x="1968442" y="14264"/>
                    <a:pt x="2076392" y="5374"/>
                    <a:pt x="2119572" y="15534"/>
                  </a:cubicBezTo>
                  <a:cubicBezTo>
                    <a:pt x="2138622" y="20614"/>
                    <a:pt x="2147512" y="26964"/>
                    <a:pt x="2157672" y="35854"/>
                  </a:cubicBezTo>
                  <a:cubicBezTo>
                    <a:pt x="2167832" y="44744"/>
                    <a:pt x="2177992" y="57444"/>
                    <a:pt x="2183072" y="71414"/>
                  </a:cubicBezTo>
                  <a:cubicBezTo>
                    <a:pt x="2188152" y="89194"/>
                    <a:pt x="2188152" y="118404"/>
                    <a:pt x="2183072" y="136184"/>
                  </a:cubicBezTo>
                  <a:cubicBezTo>
                    <a:pt x="2179262" y="150154"/>
                    <a:pt x="2169102" y="162854"/>
                    <a:pt x="2158942" y="171744"/>
                  </a:cubicBezTo>
                  <a:cubicBezTo>
                    <a:pt x="2148782" y="181904"/>
                    <a:pt x="2141162" y="186984"/>
                    <a:pt x="2120842" y="192064"/>
                  </a:cubicBezTo>
                  <a:cubicBezTo>
                    <a:pt x="2048452" y="209844"/>
                    <a:pt x="1795722" y="180634"/>
                    <a:pt x="1615382" y="192064"/>
                  </a:cubicBezTo>
                  <a:cubicBezTo>
                    <a:pt x="1405832" y="206034"/>
                    <a:pt x="1121352" y="263184"/>
                    <a:pt x="937202" y="282234"/>
                  </a:cubicBezTo>
                  <a:cubicBezTo>
                    <a:pt x="811472" y="296204"/>
                    <a:pt x="718762" y="306364"/>
                    <a:pt x="618432" y="307634"/>
                  </a:cubicBezTo>
                  <a:cubicBezTo>
                    <a:pt x="526992" y="310174"/>
                    <a:pt x="440632" y="306364"/>
                    <a:pt x="355542" y="294934"/>
                  </a:cubicBezTo>
                  <a:cubicBezTo>
                    <a:pt x="274262" y="284774"/>
                    <a:pt x="175202" y="265724"/>
                    <a:pt x="119322" y="246674"/>
                  </a:cubicBezTo>
                  <a:cubicBezTo>
                    <a:pt x="87572" y="236514"/>
                    <a:pt x="67252" y="230164"/>
                    <a:pt x="46932" y="213654"/>
                  </a:cubicBezTo>
                  <a:cubicBezTo>
                    <a:pt x="26612" y="195874"/>
                    <a:pt x="5022" y="169204"/>
                    <a:pt x="1212" y="143804"/>
                  </a:cubicBezTo>
                  <a:cubicBezTo>
                    <a:pt x="-3868" y="117134"/>
                    <a:pt x="7562" y="76494"/>
                    <a:pt x="25342" y="56174"/>
                  </a:cubicBezTo>
                  <a:cubicBezTo>
                    <a:pt x="41852" y="37124"/>
                    <a:pt x="64712" y="30774"/>
                    <a:pt x="99002" y="23154"/>
                  </a:cubicBezTo>
                  <a:cubicBezTo>
                    <a:pt x="166312" y="6644"/>
                    <a:pt x="304742" y="4104"/>
                    <a:pt x="407612" y="2834"/>
                  </a:cubicBezTo>
                  <a:cubicBezTo>
                    <a:pt x="514292" y="2834"/>
                    <a:pt x="605732" y="16804"/>
                    <a:pt x="727652" y="19344"/>
                  </a:cubicBezTo>
                  <a:cubicBezTo>
                    <a:pt x="895292" y="20614"/>
                    <a:pt x="1226762" y="-8596"/>
                    <a:pt x="1319472" y="5374"/>
                  </a:cubicBezTo>
                  <a:cubicBezTo>
                    <a:pt x="1348682" y="9184"/>
                    <a:pt x="1361382" y="12994"/>
                    <a:pt x="1375352" y="24424"/>
                  </a:cubicBezTo>
                  <a:cubicBezTo>
                    <a:pt x="1390592" y="35854"/>
                    <a:pt x="1404562" y="56174"/>
                    <a:pt x="1409642" y="73954"/>
                  </a:cubicBezTo>
                  <a:cubicBezTo>
                    <a:pt x="1414722" y="91734"/>
                    <a:pt x="1410912" y="118404"/>
                    <a:pt x="1405832" y="133644"/>
                  </a:cubicBezTo>
                  <a:cubicBezTo>
                    <a:pt x="1403292" y="145074"/>
                    <a:pt x="1398212" y="151424"/>
                    <a:pt x="1390592" y="160314"/>
                  </a:cubicBezTo>
                  <a:cubicBezTo>
                    <a:pt x="1379162" y="171744"/>
                    <a:pt x="1355032" y="185714"/>
                    <a:pt x="1339792" y="190794"/>
                  </a:cubicBezTo>
                  <a:cubicBezTo>
                    <a:pt x="1328362" y="194604"/>
                    <a:pt x="1320742" y="194604"/>
                    <a:pt x="1309312" y="192064"/>
                  </a:cubicBezTo>
                  <a:cubicBezTo>
                    <a:pt x="1292802" y="189524"/>
                    <a:pt x="1267402" y="176824"/>
                    <a:pt x="1254702" y="166664"/>
                  </a:cubicBezTo>
                  <a:cubicBezTo>
                    <a:pt x="1245812" y="160314"/>
                    <a:pt x="1240732" y="151424"/>
                    <a:pt x="1235652" y="142534"/>
                  </a:cubicBezTo>
                  <a:cubicBezTo>
                    <a:pt x="1231842" y="133644"/>
                    <a:pt x="1226762" y="126024"/>
                    <a:pt x="1226762" y="114594"/>
                  </a:cubicBezTo>
                  <a:cubicBezTo>
                    <a:pt x="1225492" y="98084"/>
                    <a:pt x="1226762" y="71414"/>
                    <a:pt x="1235652" y="54904"/>
                  </a:cubicBezTo>
                  <a:cubicBezTo>
                    <a:pt x="1244542" y="38394"/>
                    <a:pt x="1266132" y="21884"/>
                    <a:pt x="1280102" y="14264"/>
                  </a:cubicBezTo>
                  <a:cubicBezTo>
                    <a:pt x="1290262" y="7914"/>
                    <a:pt x="1297882" y="6644"/>
                    <a:pt x="1309312" y="5374"/>
                  </a:cubicBezTo>
                  <a:cubicBezTo>
                    <a:pt x="1324552" y="5374"/>
                    <a:pt x="1351222" y="9184"/>
                    <a:pt x="1367732" y="18074"/>
                  </a:cubicBezTo>
                  <a:cubicBezTo>
                    <a:pt x="1384242" y="28234"/>
                    <a:pt x="1399482" y="49824"/>
                    <a:pt x="1405832" y="63794"/>
                  </a:cubicBezTo>
                  <a:cubicBezTo>
                    <a:pt x="1410912" y="75224"/>
                    <a:pt x="1413452" y="82844"/>
                    <a:pt x="1412182" y="94274"/>
                  </a:cubicBezTo>
                  <a:cubicBezTo>
                    <a:pt x="1412182" y="110784"/>
                    <a:pt x="1407102" y="136184"/>
                    <a:pt x="1396942" y="151424"/>
                  </a:cubicBezTo>
                  <a:cubicBezTo>
                    <a:pt x="1385512" y="167934"/>
                    <a:pt x="1374082" y="179364"/>
                    <a:pt x="1348682" y="188254"/>
                  </a:cubicBezTo>
                  <a:cubicBezTo>
                    <a:pt x="1290262" y="209844"/>
                    <a:pt x="1154372" y="203494"/>
                    <a:pt x="1021022" y="207304"/>
                  </a:cubicBezTo>
                  <a:cubicBezTo>
                    <a:pt x="816552" y="211114"/>
                    <a:pt x="363162" y="204764"/>
                    <a:pt x="238702" y="194604"/>
                  </a:cubicBezTo>
                  <a:cubicBezTo>
                    <a:pt x="199332" y="190794"/>
                    <a:pt x="171392" y="198414"/>
                    <a:pt x="161232" y="181904"/>
                  </a:cubicBezTo>
                  <a:cubicBezTo>
                    <a:pt x="148532" y="162854"/>
                    <a:pt x="163772" y="89194"/>
                    <a:pt x="189172" y="73954"/>
                  </a:cubicBezTo>
                  <a:cubicBezTo>
                    <a:pt x="219652" y="56174"/>
                    <a:pt x="288232" y="103164"/>
                    <a:pt x="351732" y="110784"/>
                  </a:cubicBezTo>
                  <a:cubicBezTo>
                    <a:pt x="441902" y="123484"/>
                    <a:pt x="539692" y="129834"/>
                    <a:pt x="678122" y="124754"/>
                  </a:cubicBezTo>
                  <a:cubicBezTo>
                    <a:pt x="920692" y="114594"/>
                    <a:pt x="1410912" y="16804"/>
                    <a:pt x="1677612" y="4104"/>
                  </a:cubicBezTo>
                  <a:cubicBezTo>
                    <a:pt x="1854142" y="-3516"/>
                    <a:pt x="2052262" y="-976"/>
                    <a:pt x="2119572" y="15534"/>
                  </a:cubicBezTo>
                  <a:cubicBezTo>
                    <a:pt x="2139892" y="20614"/>
                    <a:pt x="2147512" y="26964"/>
                    <a:pt x="2157672" y="35854"/>
                  </a:cubicBezTo>
                  <a:cubicBezTo>
                    <a:pt x="2167832" y="44744"/>
                    <a:pt x="2177992" y="57444"/>
                    <a:pt x="2183072" y="71414"/>
                  </a:cubicBezTo>
                  <a:cubicBezTo>
                    <a:pt x="2188152" y="89194"/>
                    <a:pt x="2188152" y="118404"/>
                    <a:pt x="2183072" y="136184"/>
                  </a:cubicBezTo>
                  <a:cubicBezTo>
                    <a:pt x="2179262" y="150154"/>
                    <a:pt x="2169102" y="162854"/>
                    <a:pt x="2158942" y="171744"/>
                  </a:cubicBezTo>
                  <a:cubicBezTo>
                    <a:pt x="2148782" y="181904"/>
                    <a:pt x="2141162" y="186984"/>
                    <a:pt x="2120842" y="192064"/>
                  </a:cubicBezTo>
                  <a:cubicBezTo>
                    <a:pt x="2061152" y="208574"/>
                    <a:pt x="1887162" y="194604"/>
                    <a:pt x="1747462" y="207304"/>
                  </a:cubicBezTo>
                  <a:cubicBezTo>
                    <a:pt x="1567122" y="223814"/>
                    <a:pt x="1283912" y="288584"/>
                    <a:pt x="1127702" y="298744"/>
                  </a:cubicBezTo>
                  <a:cubicBezTo>
                    <a:pt x="1032452" y="306364"/>
                    <a:pt x="943552" y="306364"/>
                    <a:pt x="899102" y="297474"/>
                  </a:cubicBezTo>
                  <a:cubicBezTo>
                    <a:pt x="881322" y="293664"/>
                    <a:pt x="872432" y="289854"/>
                    <a:pt x="861002" y="282234"/>
                  </a:cubicBezTo>
                  <a:cubicBezTo>
                    <a:pt x="850842" y="273344"/>
                    <a:pt x="840682" y="263184"/>
                    <a:pt x="835602" y="250484"/>
                  </a:cubicBezTo>
                  <a:cubicBezTo>
                    <a:pt x="829252" y="233974"/>
                    <a:pt x="826712" y="206034"/>
                    <a:pt x="830522" y="189524"/>
                  </a:cubicBezTo>
                  <a:cubicBezTo>
                    <a:pt x="833062" y="175554"/>
                    <a:pt x="841952" y="162854"/>
                    <a:pt x="850842" y="153964"/>
                  </a:cubicBezTo>
                  <a:cubicBezTo>
                    <a:pt x="859732" y="143804"/>
                    <a:pt x="866082" y="137454"/>
                    <a:pt x="885132" y="131104"/>
                  </a:cubicBezTo>
                  <a:cubicBezTo>
                    <a:pt x="951172" y="112054"/>
                    <a:pt x="1287722" y="113324"/>
                    <a:pt x="1355032" y="128564"/>
                  </a:cubicBezTo>
                  <a:cubicBezTo>
                    <a:pt x="1374082" y="133644"/>
                    <a:pt x="1380432" y="138724"/>
                    <a:pt x="1390592" y="147614"/>
                  </a:cubicBezTo>
                  <a:cubicBezTo>
                    <a:pt x="1400752" y="156504"/>
                    <a:pt x="1409642" y="167934"/>
                    <a:pt x="1413452" y="180634"/>
                  </a:cubicBezTo>
                  <a:cubicBezTo>
                    <a:pt x="1418532" y="197144"/>
                    <a:pt x="1418532" y="225084"/>
                    <a:pt x="1413452" y="241594"/>
                  </a:cubicBezTo>
                  <a:cubicBezTo>
                    <a:pt x="1409642" y="255564"/>
                    <a:pt x="1400752" y="265724"/>
                    <a:pt x="1390592" y="274614"/>
                  </a:cubicBezTo>
                  <a:cubicBezTo>
                    <a:pt x="1381702" y="283504"/>
                    <a:pt x="1375352" y="287314"/>
                    <a:pt x="1355032" y="293664"/>
                  </a:cubicBezTo>
                  <a:cubicBezTo>
                    <a:pt x="1278832" y="316524"/>
                    <a:pt x="792422" y="390184"/>
                    <a:pt x="770832" y="352084"/>
                  </a:cubicBezTo>
                  <a:cubicBezTo>
                    <a:pt x="761942" y="335574"/>
                    <a:pt x="824172" y="303824"/>
                    <a:pt x="825442" y="278424"/>
                  </a:cubicBezTo>
                  <a:cubicBezTo>
                    <a:pt x="826712" y="250484"/>
                    <a:pt x="761942" y="209844"/>
                    <a:pt x="773372" y="188254"/>
                  </a:cubicBezTo>
                  <a:cubicBezTo>
                    <a:pt x="797502" y="143804"/>
                    <a:pt x="1134052" y="170474"/>
                    <a:pt x="1240732" y="170474"/>
                  </a:cubicBezTo>
                  <a:cubicBezTo>
                    <a:pt x="1295342" y="170474"/>
                    <a:pt x="1335982" y="164124"/>
                    <a:pt x="1366462" y="174284"/>
                  </a:cubicBezTo>
                  <a:cubicBezTo>
                    <a:pt x="1388052" y="180634"/>
                    <a:pt x="1404562" y="189524"/>
                    <a:pt x="1413452" y="206034"/>
                  </a:cubicBezTo>
                  <a:cubicBezTo>
                    <a:pt x="1424882" y="223814"/>
                    <a:pt x="1428692" y="258104"/>
                    <a:pt x="1423612" y="278424"/>
                  </a:cubicBezTo>
                  <a:cubicBezTo>
                    <a:pt x="1417262" y="296204"/>
                    <a:pt x="1399482" y="312714"/>
                    <a:pt x="1386782" y="321604"/>
                  </a:cubicBezTo>
                  <a:cubicBezTo>
                    <a:pt x="1375352" y="327954"/>
                    <a:pt x="1370272" y="327954"/>
                    <a:pt x="1349952" y="330494"/>
                  </a:cubicBezTo>
                  <a:cubicBezTo>
                    <a:pt x="1248352" y="345734"/>
                    <a:pt x="560012" y="404154"/>
                    <a:pt x="452062" y="373674"/>
                  </a:cubicBezTo>
                  <a:cubicBezTo>
                    <a:pt x="426662" y="366054"/>
                    <a:pt x="417772" y="355894"/>
                    <a:pt x="407612" y="341924"/>
                  </a:cubicBezTo>
                  <a:cubicBezTo>
                    <a:pt x="398722" y="329224"/>
                    <a:pt x="393642" y="306364"/>
                    <a:pt x="394912" y="289854"/>
                  </a:cubicBezTo>
                  <a:cubicBezTo>
                    <a:pt x="397452" y="273344"/>
                    <a:pt x="407612" y="253024"/>
                    <a:pt x="420312" y="241594"/>
                  </a:cubicBezTo>
                  <a:cubicBezTo>
                    <a:pt x="433012" y="231434"/>
                    <a:pt x="471112" y="222544"/>
                    <a:pt x="471112" y="222544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981122" y="5699760"/>
            <a:ext cx="836295" cy="200025"/>
            <a:chOff x="0" y="0"/>
            <a:chExt cx="1115060" cy="266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236" y="52143"/>
              <a:ext cx="1014431" cy="174650"/>
            </a:xfrm>
            <a:custGeom>
              <a:avLst/>
              <a:gdLst/>
              <a:ahLst/>
              <a:cxnLst/>
              <a:rect r="r" b="b" t="t" l="l"/>
              <a:pathLst>
                <a:path h="174650" w="1014431">
                  <a:moveTo>
                    <a:pt x="75494" y="8817"/>
                  </a:moveTo>
                  <a:cubicBezTo>
                    <a:pt x="975924" y="8817"/>
                    <a:pt x="992434" y="21517"/>
                    <a:pt x="1003864" y="38027"/>
                  </a:cubicBezTo>
                  <a:cubicBezTo>
                    <a:pt x="1014024" y="51997"/>
                    <a:pt x="1015294" y="72317"/>
                    <a:pt x="1014024" y="88827"/>
                  </a:cubicBezTo>
                  <a:cubicBezTo>
                    <a:pt x="1011484" y="104067"/>
                    <a:pt x="1002594" y="123117"/>
                    <a:pt x="991164" y="134547"/>
                  </a:cubicBezTo>
                  <a:cubicBezTo>
                    <a:pt x="979734" y="145977"/>
                    <a:pt x="961954" y="154867"/>
                    <a:pt x="946714" y="157407"/>
                  </a:cubicBezTo>
                  <a:cubicBezTo>
                    <a:pt x="930204" y="158677"/>
                    <a:pt x="909884" y="157407"/>
                    <a:pt x="895914" y="147247"/>
                  </a:cubicBezTo>
                  <a:cubicBezTo>
                    <a:pt x="879404" y="135817"/>
                    <a:pt x="857814" y="106607"/>
                    <a:pt x="855274" y="85017"/>
                  </a:cubicBezTo>
                  <a:cubicBezTo>
                    <a:pt x="854004" y="63427"/>
                    <a:pt x="867974" y="30407"/>
                    <a:pt x="884484" y="16437"/>
                  </a:cubicBezTo>
                  <a:cubicBezTo>
                    <a:pt x="900994" y="2467"/>
                    <a:pt x="936554" y="-3883"/>
                    <a:pt x="958144" y="2467"/>
                  </a:cubicBezTo>
                  <a:cubicBezTo>
                    <a:pt x="978464" y="7547"/>
                    <a:pt x="1003864" y="32947"/>
                    <a:pt x="1010214" y="54537"/>
                  </a:cubicBezTo>
                  <a:cubicBezTo>
                    <a:pt x="1017834" y="74857"/>
                    <a:pt x="1008944" y="110417"/>
                    <a:pt x="997514" y="126927"/>
                  </a:cubicBezTo>
                  <a:cubicBezTo>
                    <a:pt x="987354" y="142167"/>
                    <a:pt x="973384" y="148517"/>
                    <a:pt x="954334" y="154867"/>
                  </a:cubicBezTo>
                  <a:cubicBezTo>
                    <a:pt x="926394" y="165027"/>
                    <a:pt x="897184" y="161217"/>
                    <a:pt x="842574" y="162487"/>
                  </a:cubicBezTo>
                  <a:cubicBezTo>
                    <a:pt x="699064" y="167567"/>
                    <a:pt x="156774" y="189157"/>
                    <a:pt x="57714" y="158677"/>
                  </a:cubicBezTo>
                  <a:cubicBezTo>
                    <a:pt x="32314" y="149787"/>
                    <a:pt x="23424" y="140897"/>
                    <a:pt x="13264" y="126927"/>
                  </a:cubicBezTo>
                  <a:cubicBezTo>
                    <a:pt x="4374" y="114227"/>
                    <a:pt x="-1976" y="91367"/>
                    <a:pt x="564" y="74857"/>
                  </a:cubicBezTo>
                  <a:cubicBezTo>
                    <a:pt x="3104" y="58347"/>
                    <a:pt x="13264" y="39297"/>
                    <a:pt x="25964" y="27867"/>
                  </a:cubicBezTo>
                  <a:cubicBezTo>
                    <a:pt x="38664" y="16437"/>
                    <a:pt x="75494" y="8817"/>
                    <a:pt x="75494" y="8817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906828" y="5386388"/>
            <a:ext cx="1463992" cy="327660"/>
            <a:chOff x="0" y="0"/>
            <a:chExt cx="1951990" cy="43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311" y="50342"/>
              <a:ext cx="1851203" cy="351977"/>
            </a:xfrm>
            <a:custGeom>
              <a:avLst/>
              <a:gdLst/>
              <a:ahLst/>
              <a:cxnLst/>
              <a:rect r="r" b="b" t="t" l="l"/>
              <a:pathLst>
                <a:path h="351977" w="1851203">
                  <a:moveTo>
                    <a:pt x="874249" y="180798"/>
                  </a:moveTo>
                  <a:cubicBezTo>
                    <a:pt x="1551159" y="179528"/>
                    <a:pt x="1561319" y="189688"/>
                    <a:pt x="1571479" y="204928"/>
                  </a:cubicBezTo>
                  <a:cubicBezTo>
                    <a:pt x="1580369" y="220168"/>
                    <a:pt x="1586719" y="244298"/>
                    <a:pt x="1582909" y="263348"/>
                  </a:cubicBezTo>
                  <a:cubicBezTo>
                    <a:pt x="1580369" y="281128"/>
                    <a:pt x="1566399" y="302718"/>
                    <a:pt x="1554969" y="314148"/>
                  </a:cubicBezTo>
                  <a:cubicBezTo>
                    <a:pt x="1544809" y="323038"/>
                    <a:pt x="1539729" y="326848"/>
                    <a:pt x="1519409" y="331928"/>
                  </a:cubicBezTo>
                  <a:cubicBezTo>
                    <a:pt x="1415269" y="353518"/>
                    <a:pt x="679939" y="324308"/>
                    <a:pt x="532619" y="309068"/>
                  </a:cubicBezTo>
                  <a:cubicBezTo>
                    <a:pt x="488169" y="303988"/>
                    <a:pt x="480549" y="302718"/>
                    <a:pt x="448799" y="293828"/>
                  </a:cubicBezTo>
                  <a:cubicBezTo>
                    <a:pt x="403079" y="279858"/>
                    <a:pt x="317989" y="256998"/>
                    <a:pt x="287509" y="229058"/>
                  </a:cubicBezTo>
                  <a:cubicBezTo>
                    <a:pt x="269729" y="212548"/>
                    <a:pt x="262109" y="193498"/>
                    <a:pt x="259569" y="173178"/>
                  </a:cubicBezTo>
                  <a:cubicBezTo>
                    <a:pt x="257029" y="154128"/>
                    <a:pt x="264649" y="128728"/>
                    <a:pt x="274809" y="113488"/>
                  </a:cubicBezTo>
                  <a:cubicBezTo>
                    <a:pt x="286239" y="96978"/>
                    <a:pt x="301479" y="89358"/>
                    <a:pt x="326879" y="79198"/>
                  </a:cubicBezTo>
                  <a:cubicBezTo>
                    <a:pt x="384029" y="55068"/>
                    <a:pt x="527539" y="30938"/>
                    <a:pt x="621519" y="20778"/>
                  </a:cubicBezTo>
                  <a:cubicBezTo>
                    <a:pt x="707879" y="11888"/>
                    <a:pt x="772649" y="16968"/>
                    <a:pt x="867899" y="18238"/>
                  </a:cubicBezTo>
                  <a:cubicBezTo>
                    <a:pt x="1003789" y="22048"/>
                    <a:pt x="1199369" y="43638"/>
                    <a:pt x="1356849" y="46178"/>
                  </a:cubicBezTo>
                  <a:cubicBezTo>
                    <a:pt x="1502899" y="48718"/>
                    <a:pt x="1714989" y="20778"/>
                    <a:pt x="1781029" y="36018"/>
                  </a:cubicBezTo>
                  <a:cubicBezTo>
                    <a:pt x="1801349" y="41098"/>
                    <a:pt x="1808969" y="46178"/>
                    <a:pt x="1820399" y="56338"/>
                  </a:cubicBezTo>
                  <a:cubicBezTo>
                    <a:pt x="1833099" y="70308"/>
                    <a:pt x="1848339" y="94438"/>
                    <a:pt x="1850879" y="114758"/>
                  </a:cubicBezTo>
                  <a:cubicBezTo>
                    <a:pt x="1852149" y="135078"/>
                    <a:pt x="1845799" y="161748"/>
                    <a:pt x="1834369" y="178258"/>
                  </a:cubicBezTo>
                  <a:cubicBezTo>
                    <a:pt x="1822939" y="194768"/>
                    <a:pt x="1805159" y="206198"/>
                    <a:pt x="1781029" y="216358"/>
                  </a:cubicBezTo>
                  <a:cubicBezTo>
                    <a:pt x="1739119" y="231598"/>
                    <a:pt x="1681969" y="232868"/>
                    <a:pt x="1598149" y="237948"/>
                  </a:cubicBezTo>
                  <a:cubicBezTo>
                    <a:pt x="1410189" y="246838"/>
                    <a:pt x="890759" y="210008"/>
                    <a:pt x="681209" y="221438"/>
                  </a:cubicBezTo>
                  <a:cubicBezTo>
                    <a:pt x="570719" y="227788"/>
                    <a:pt x="504679" y="248108"/>
                    <a:pt x="429749" y="253188"/>
                  </a:cubicBezTo>
                  <a:cubicBezTo>
                    <a:pt x="370059" y="256998"/>
                    <a:pt x="325609" y="260808"/>
                    <a:pt x="268459" y="254458"/>
                  </a:cubicBezTo>
                  <a:cubicBezTo>
                    <a:pt x="199879" y="248108"/>
                    <a:pt x="89389" y="227788"/>
                    <a:pt x="50019" y="207468"/>
                  </a:cubicBezTo>
                  <a:cubicBezTo>
                    <a:pt x="32239" y="198578"/>
                    <a:pt x="24619" y="189688"/>
                    <a:pt x="16999" y="178258"/>
                  </a:cubicBezTo>
                  <a:cubicBezTo>
                    <a:pt x="8109" y="165558"/>
                    <a:pt x="1759" y="151588"/>
                    <a:pt x="489" y="136348"/>
                  </a:cubicBezTo>
                  <a:cubicBezTo>
                    <a:pt x="-781" y="117298"/>
                    <a:pt x="6839" y="88088"/>
                    <a:pt x="16999" y="72848"/>
                  </a:cubicBezTo>
                  <a:cubicBezTo>
                    <a:pt x="24619" y="58878"/>
                    <a:pt x="36049" y="49988"/>
                    <a:pt x="50019" y="43638"/>
                  </a:cubicBezTo>
                  <a:cubicBezTo>
                    <a:pt x="67799" y="34748"/>
                    <a:pt x="93199" y="41098"/>
                    <a:pt x="116059" y="34748"/>
                  </a:cubicBezTo>
                  <a:cubicBezTo>
                    <a:pt x="140189" y="29668"/>
                    <a:pt x="164319" y="11888"/>
                    <a:pt x="189719" y="5538"/>
                  </a:cubicBezTo>
                  <a:cubicBezTo>
                    <a:pt x="215119" y="458"/>
                    <a:pt x="236709" y="-812"/>
                    <a:pt x="267189" y="458"/>
                  </a:cubicBezTo>
                  <a:cubicBezTo>
                    <a:pt x="310369" y="1728"/>
                    <a:pt x="347199" y="16968"/>
                    <a:pt x="425939" y="22048"/>
                  </a:cubicBezTo>
                  <a:cubicBezTo>
                    <a:pt x="651999" y="36018"/>
                    <a:pt x="1637519" y="-9702"/>
                    <a:pt x="1746739" y="16968"/>
                  </a:cubicBezTo>
                  <a:cubicBezTo>
                    <a:pt x="1763249" y="20778"/>
                    <a:pt x="1765789" y="23318"/>
                    <a:pt x="1773409" y="30938"/>
                  </a:cubicBezTo>
                  <a:cubicBezTo>
                    <a:pt x="1786109" y="42368"/>
                    <a:pt x="1802619" y="62688"/>
                    <a:pt x="1807699" y="80468"/>
                  </a:cubicBezTo>
                  <a:cubicBezTo>
                    <a:pt x="1811509" y="98248"/>
                    <a:pt x="1810239" y="122378"/>
                    <a:pt x="1803889" y="140158"/>
                  </a:cubicBezTo>
                  <a:cubicBezTo>
                    <a:pt x="1796269" y="157938"/>
                    <a:pt x="1781029" y="175718"/>
                    <a:pt x="1765789" y="185878"/>
                  </a:cubicBezTo>
                  <a:cubicBezTo>
                    <a:pt x="1749279" y="194768"/>
                    <a:pt x="1722609" y="198578"/>
                    <a:pt x="1707369" y="198578"/>
                  </a:cubicBezTo>
                  <a:cubicBezTo>
                    <a:pt x="1695939" y="197308"/>
                    <a:pt x="1688319" y="196038"/>
                    <a:pt x="1678159" y="189688"/>
                  </a:cubicBezTo>
                  <a:cubicBezTo>
                    <a:pt x="1664189" y="182068"/>
                    <a:pt x="1643869" y="163018"/>
                    <a:pt x="1634979" y="149048"/>
                  </a:cubicBezTo>
                  <a:cubicBezTo>
                    <a:pt x="1628629" y="140158"/>
                    <a:pt x="1627359" y="129998"/>
                    <a:pt x="1624819" y="121108"/>
                  </a:cubicBezTo>
                  <a:cubicBezTo>
                    <a:pt x="1623549" y="110948"/>
                    <a:pt x="1622279" y="102058"/>
                    <a:pt x="1624819" y="90628"/>
                  </a:cubicBezTo>
                  <a:cubicBezTo>
                    <a:pt x="1628629" y="75388"/>
                    <a:pt x="1640059" y="51258"/>
                    <a:pt x="1652759" y="37288"/>
                  </a:cubicBezTo>
                  <a:cubicBezTo>
                    <a:pt x="1666729" y="24588"/>
                    <a:pt x="1688319" y="14428"/>
                    <a:pt x="1707369" y="13158"/>
                  </a:cubicBezTo>
                  <a:cubicBezTo>
                    <a:pt x="1726419" y="10618"/>
                    <a:pt x="1749279" y="15698"/>
                    <a:pt x="1765789" y="25858"/>
                  </a:cubicBezTo>
                  <a:cubicBezTo>
                    <a:pt x="1781029" y="34748"/>
                    <a:pt x="1796269" y="53798"/>
                    <a:pt x="1803889" y="71578"/>
                  </a:cubicBezTo>
                  <a:cubicBezTo>
                    <a:pt x="1810239" y="88088"/>
                    <a:pt x="1811509" y="112218"/>
                    <a:pt x="1806429" y="129998"/>
                  </a:cubicBezTo>
                  <a:cubicBezTo>
                    <a:pt x="1802619" y="149048"/>
                    <a:pt x="1788649" y="168098"/>
                    <a:pt x="1773409" y="179528"/>
                  </a:cubicBezTo>
                  <a:cubicBezTo>
                    <a:pt x="1758169" y="190958"/>
                    <a:pt x="1744199" y="193498"/>
                    <a:pt x="1717529" y="198578"/>
                  </a:cubicBezTo>
                  <a:cubicBezTo>
                    <a:pt x="1650219" y="211278"/>
                    <a:pt x="1490199" y="212548"/>
                    <a:pt x="1356849" y="212548"/>
                  </a:cubicBezTo>
                  <a:cubicBezTo>
                    <a:pt x="1190479" y="213818"/>
                    <a:pt x="969499" y="197308"/>
                    <a:pt x="799319" y="197308"/>
                  </a:cubicBezTo>
                  <a:cubicBezTo>
                    <a:pt x="651999" y="197308"/>
                    <a:pt x="497059" y="212548"/>
                    <a:pt x="392919" y="207468"/>
                  </a:cubicBezTo>
                  <a:cubicBezTo>
                    <a:pt x="325609" y="204928"/>
                    <a:pt x="282429" y="185878"/>
                    <a:pt x="227819" y="187148"/>
                  </a:cubicBezTo>
                  <a:cubicBezTo>
                    <a:pt x="174479" y="188418"/>
                    <a:pt x="104629" y="221438"/>
                    <a:pt x="70339" y="215088"/>
                  </a:cubicBezTo>
                  <a:cubicBezTo>
                    <a:pt x="52559" y="212548"/>
                    <a:pt x="42399" y="206198"/>
                    <a:pt x="30969" y="194768"/>
                  </a:cubicBezTo>
                  <a:cubicBezTo>
                    <a:pt x="18269" y="180798"/>
                    <a:pt x="3029" y="156668"/>
                    <a:pt x="489" y="136348"/>
                  </a:cubicBezTo>
                  <a:cubicBezTo>
                    <a:pt x="-2051" y="116028"/>
                    <a:pt x="5569" y="89358"/>
                    <a:pt x="16999" y="72848"/>
                  </a:cubicBezTo>
                  <a:cubicBezTo>
                    <a:pt x="28429" y="55068"/>
                    <a:pt x="43669" y="41098"/>
                    <a:pt x="71609" y="34748"/>
                  </a:cubicBezTo>
                  <a:cubicBezTo>
                    <a:pt x="126219" y="22048"/>
                    <a:pt x="253219" y="69038"/>
                    <a:pt x="349739" y="70308"/>
                  </a:cubicBezTo>
                  <a:cubicBezTo>
                    <a:pt x="455149" y="72848"/>
                    <a:pt x="542779" y="44908"/>
                    <a:pt x="681209" y="38558"/>
                  </a:cubicBezTo>
                  <a:cubicBezTo>
                    <a:pt x="911079" y="29668"/>
                    <a:pt x="1417809" y="60148"/>
                    <a:pt x="1605769" y="52528"/>
                  </a:cubicBezTo>
                  <a:cubicBezTo>
                    <a:pt x="1687049" y="49988"/>
                    <a:pt x="1740389" y="25858"/>
                    <a:pt x="1781029" y="36018"/>
                  </a:cubicBezTo>
                  <a:cubicBezTo>
                    <a:pt x="1805159" y="42368"/>
                    <a:pt x="1822939" y="58878"/>
                    <a:pt x="1834369" y="72848"/>
                  </a:cubicBezTo>
                  <a:cubicBezTo>
                    <a:pt x="1844529" y="85548"/>
                    <a:pt x="1848339" y="100788"/>
                    <a:pt x="1850879" y="114758"/>
                  </a:cubicBezTo>
                  <a:cubicBezTo>
                    <a:pt x="1852149" y="128728"/>
                    <a:pt x="1849609" y="145238"/>
                    <a:pt x="1844529" y="159208"/>
                  </a:cubicBezTo>
                  <a:cubicBezTo>
                    <a:pt x="1839449" y="171908"/>
                    <a:pt x="1830559" y="185878"/>
                    <a:pt x="1820399" y="194768"/>
                  </a:cubicBezTo>
                  <a:cubicBezTo>
                    <a:pt x="1808969" y="204928"/>
                    <a:pt x="1800079" y="210008"/>
                    <a:pt x="1781029" y="216358"/>
                  </a:cubicBezTo>
                  <a:cubicBezTo>
                    <a:pt x="1735309" y="229058"/>
                    <a:pt x="1632439" y="229058"/>
                    <a:pt x="1537189" y="230328"/>
                  </a:cubicBezTo>
                  <a:cubicBezTo>
                    <a:pt x="1402569" y="234138"/>
                    <a:pt x="1194289" y="229058"/>
                    <a:pt x="1046969" y="221438"/>
                  </a:cubicBezTo>
                  <a:cubicBezTo>
                    <a:pt x="925049" y="216358"/>
                    <a:pt x="831069" y="193498"/>
                    <a:pt x="715499" y="196038"/>
                  </a:cubicBezTo>
                  <a:cubicBezTo>
                    <a:pt x="591039" y="199848"/>
                    <a:pt x="385299" y="260808"/>
                    <a:pt x="324339" y="249378"/>
                  </a:cubicBezTo>
                  <a:cubicBezTo>
                    <a:pt x="305289" y="245568"/>
                    <a:pt x="297669" y="237948"/>
                    <a:pt x="287509" y="229058"/>
                  </a:cubicBezTo>
                  <a:cubicBezTo>
                    <a:pt x="277349" y="220168"/>
                    <a:pt x="268459" y="207468"/>
                    <a:pt x="264649" y="194768"/>
                  </a:cubicBezTo>
                  <a:cubicBezTo>
                    <a:pt x="259569" y="182068"/>
                    <a:pt x="258299" y="165558"/>
                    <a:pt x="259569" y="152858"/>
                  </a:cubicBezTo>
                  <a:cubicBezTo>
                    <a:pt x="262109" y="138888"/>
                    <a:pt x="267189" y="124918"/>
                    <a:pt x="274809" y="113488"/>
                  </a:cubicBezTo>
                  <a:cubicBezTo>
                    <a:pt x="283699" y="102058"/>
                    <a:pt x="295129" y="91898"/>
                    <a:pt x="306559" y="85548"/>
                  </a:cubicBezTo>
                  <a:cubicBezTo>
                    <a:pt x="319259" y="79198"/>
                    <a:pt x="329419" y="75388"/>
                    <a:pt x="348469" y="76658"/>
                  </a:cubicBezTo>
                  <a:cubicBezTo>
                    <a:pt x="387839" y="77928"/>
                    <a:pt x="488169" y="127458"/>
                    <a:pt x="538969" y="137618"/>
                  </a:cubicBezTo>
                  <a:cubicBezTo>
                    <a:pt x="571989" y="143968"/>
                    <a:pt x="579609" y="142698"/>
                    <a:pt x="620249" y="143968"/>
                  </a:cubicBezTo>
                  <a:cubicBezTo>
                    <a:pt x="747249" y="150318"/>
                    <a:pt x="1251439" y="142698"/>
                    <a:pt x="1398759" y="152858"/>
                  </a:cubicBezTo>
                  <a:cubicBezTo>
                    <a:pt x="1458449" y="157938"/>
                    <a:pt x="1492739" y="157938"/>
                    <a:pt x="1523219" y="170638"/>
                  </a:cubicBezTo>
                  <a:cubicBezTo>
                    <a:pt x="1544809" y="179528"/>
                    <a:pt x="1561319" y="189688"/>
                    <a:pt x="1571479" y="204928"/>
                  </a:cubicBezTo>
                  <a:cubicBezTo>
                    <a:pt x="1580369" y="220168"/>
                    <a:pt x="1586719" y="244298"/>
                    <a:pt x="1582909" y="263348"/>
                  </a:cubicBezTo>
                  <a:cubicBezTo>
                    <a:pt x="1580369" y="281128"/>
                    <a:pt x="1566399" y="302718"/>
                    <a:pt x="1554969" y="314148"/>
                  </a:cubicBezTo>
                  <a:cubicBezTo>
                    <a:pt x="1544809" y="323038"/>
                    <a:pt x="1539729" y="326848"/>
                    <a:pt x="1519409" y="331928"/>
                  </a:cubicBezTo>
                  <a:cubicBezTo>
                    <a:pt x="1436859" y="350978"/>
                    <a:pt x="945369" y="363678"/>
                    <a:pt x="855199" y="335738"/>
                  </a:cubicBezTo>
                  <a:cubicBezTo>
                    <a:pt x="828529" y="326848"/>
                    <a:pt x="819639" y="317958"/>
                    <a:pt x="809479" y="303988"/>
                  </a:cubicBezTo>
                  <a:cubicBezTo>
                    <a:pt x="799319" y="290018"/>
                    <a:pt x="794239" y="267158"/>
                    <a:pt x="796779" y="249378"/>
                  </a:cubicBezTo>
                  <a:cubicBezTo>
                    <a:pt x="798049" y="232868"/>
                    <a:pt x="809479" y="212548"/>
                    <a:pt x="822179" y="201118"/>
                  </a:cubicBezTo>
                  <a:cubicBezTo>
                    <a:pt x="834879" y="189688"/>
                    <a:pt x="874249" y="180798"/>
                    <a:pt x="874249" y="180798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136505" y="5394960"/>
            <a:ext cx="491490" cy="240983"/>
            <a:chOff x="0" y="0"/>
            <a:chExt cx="655320" cy="321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9778" y="48296"/>
              <a:ext cx="561190" cy="221111"/>
            </a:xfrm>
            <a:custGeom>
              <a:avLst/>
              <a:gdLst/>
              <a:ahLst/>
              <a:cxnLst/>
              <a:rect r="r" b="b" t="t" l="l"/>
              <a:pathLst>
                <a:path h="221111" w="561190">
                  <a:moveTo>
                    <a:pt x="106432" y="41874"/>
                  </a:moveTo>
                  <a:cubicBezTo>
                    <a:pt x="429012" y="54574"/>
                    <a:pt x="429012" y="112994"/>
                    <a:pt x="416312" y="137124"/>
                  </a:cubicBezTo>
                  <a:cubicBezTo>
                    <a:pt x="404882" y="158714"/>
                    <a:pt x="373132" y="163794"/>
                    <a:pt x="337572" y="175224"/>
                  </a:cubicBezTo>
                  <a:cubicBezTo>
                    <a:pt x="274072" y="194274"/>
                    <a:pt x="117862" y="231104"/>
                    <a:pt x="64522" y="217134"/>
                  </a:cubicBezTo>
                  <a:cubicBezTo>
                    <a:pt x="39122" y="210784"/>
                    <a:pt x="23882" y="196814"/>
                    <a:pt x="13722" y="180304"/>
                  </a:cubicBezTo>
                  <a:cubicBezTo>
                    <a:pt x="3562" y="163794"/>
                    <a:pt x="-248" y="135854"/>
                    <a:pt x="1022" y="118074"/>
                  </a:cubicBezTo>
                  <a:cubicBezTo>
                    <a:pt x="2292" y="104104"/>
                    <a:pt x="8642" y="91404"/>
                    <a:pt x="17532" y="79974"/>
                  </a:cubicBezTo>
                  <a:cubicBezTo>
                    <a:pt x="30232" y="66004"/>
                    <a:pt x="50552" y="49494"/>
                    <a:pt x="70872" y="45684"/>
                  </a:cubicBezTo>
                  <a:cubicBezTo>
                    <a:pt x="93732" y="41874"/>
                    <a:pt x="131832" y="55844"/>
                    <a:pt x="147072" y="66004"/>
                  </a:cubicBezTo>
                  <a:cubicBezTo>
                    <a:pt x="155962" y="72354"/>
                    <a:pt x="161042" y="77434"/>
                    <a:pt x="164852" y="87594"/>
                  </a:cubicBezTo>
                  <a:cubicBezTo>
                    <a:pt x="172472" y="106644"/>
                    <a:pt x="178822" y="148554"/>
                    <a:pt x="168662" y="171414"/>
                  </a:cubicBezTo>
                  <a:cubicBezTo>
                    <a:pt x="158502" y="193004"/>
                    <a:pt x="125482" y="217134"/>
                    <a:pt x="101352" y="219674"/>
                  </a:cubicBezTo>
                  <a:cubicBezTo>
                    <a:pt x="77222" y="223484"/>
                    <a:pt x="40392" y="210784"/>
                    <a:pt x="23882" y="193004"/>
                  </a:cubicBezTo>
                  <a:cubicBezTo>
                    <a:pt x="7372" y="173954"/>
                    <a:pt x="-2788" y="135854"/>
                    <a:pt x="2292" y="111724"/>
                  </a:cubicBezTo>
                  <a:cubicBezTo>
                    <a:pt x="8642" y="88864"/>
                    <a:pt x="34042" y="58384"/>
                    <a:pt x="56902" y="49494"/>
                  </a:cubicBezTo>
                  <a:cubicBezTo>
                    <a:pt x="79762" y="40604"/>
                    <a:pt x="119132" y="45684"/>
                    <a:pt x="139452" y="59654"/>
                  </a:cubicBezTo>
                  <a:cubicBezTo>
                    <a:pt x="159772" y="73624"/>
                    <a:pt x="177552" y="109184"/>
                    <a:pt x="177552" y="134584"/>
                  </a:cubicBezTo>
                  <a:cubicBezTo>
                    <a:pt x="176282" y="158714"/>
                    <a:pt x="157232" y="193004"/>
                    <a:pt x="136912" y="206974"/>
                  </a:cubicBezTo>
                  <a:cubicBezTo>
                    <a:pt x="116592" y="219674"/>
                    <a:pt x="54362" y="210784"/>
                    <a:pt x="54362" y="214594"/>
                  </a:cubicBezTo>
                  <a:cubicBezTo>
                    <a:pt x="54362" y="215864"/>
                    <a:pt x="84842" y="222214"/>
                    <a:pt x="84842" y="220944"/>
                  </a:cubicBezTo>
                  <a:cubicBezTo>
                    <a:pt x="86112" y="219674"/>
                    <a:pt x="41662" y="208244"/>
                    <a:pt x="27692" y="196814"/>
                  </a:cubicBezTo>
                  <a:cubicBezTo>
                    <a:pt x="16262" y="186654"/>
                    <a:pt x="8642" y="173954"/>
                    <a:pt x="4832" y="161254"/>
                  </a:cubicBezTo>
                  <a:cubicBezTo>
                    <a:pt x="1022" y="147284"/>
                    <a:pt x="-1518" y="133314"/>
                    <a:pt x="1022" y="118074"/>
                  </a:cubicBezTo>
                  <a:cubicBezTo>
                    <a:pt x="4832" y="100294"/>
                    <a:pt x="16262" y="78704"/>
                    <a:pt x="32772" y="64734"/>
                  </a:cubicBezTo>
                  <a:cubicBezTo>
                    <a:pt x="54362" y="45684"/>
                    <a:pt x="93732" y="35524"/>
                    <a:pt x="131832" y="26634"/>
                  </a:cubicBezTo>
                  <a:cubicBezTo>
                    <a:pt x="178822" y="13934"/>
                    <a:pt x="248672" y="6314"/>
                    <a:pt x="295662" y="3774"/>
                  </a:cubicBezTo>
                  <a:cubicBezTo>
                    <a:pt x="329952" y="1234"/>
                    <a:pt x="351542" y="-2576"/>
                    <a:pt x="384562" y="2504"/>
                  </a:cubicBezTo>
                  <a:cubicBezTo>
                    <a:pt x="430282" y="8854"/>
                    <a:pt x="511562" y="15204"/>
                    <a:pt x="538232" y="46954"/>
                  </a:cubicBezTo>
                  <a:cubicBezTo>
                    <a:pt x="561092" y="72354"/>
                    <a:pt x="567442" y="133314"/>
                    <a:pt x="554742" y="159984"/>
                  </a:cubicBezTo>
                  <a:cubicBezTo>
                    <a:pt x="543312" y="181574"/>
                    <a:pt x="516642" y="191734"/>
                    <a:pt x="479812" y="200624"/>
                  </a:cubicBezTo>
                  <a:cubicBezTo>
                    <a:pt x="402342" y="219674"/>
                    <a:pt x="153422" y="217134"/>
                    <a:pt x="88652" y="196814"/>
                  </a:cubicBezTo>
                  <a:cubicBezTo>
                    <a:pt x="63252" y="189194"/>
                    <a:pt x="51822" y="179034"/>
                    <a:pt x="42932" y="165064"/>
                  </a:cubicBezTo>
                  <a:cubicBezTo>
                    <a:pt x="32772" y="151094"/>
                    <a:pt x="27692" y="128234"/>
                    <a:pt x="28962" y="111724"/>
                  </a:cubicBezTo>
                  <a:cubicBezTo>
                    <a:pt x="31502" y="93944"/>
                    <a:pt x="41662" y="73624"/>
                    <a:pt x="55632" y="62194"/>
                  </a:cubicBezTo>
                  <a:cubicBezTo>
                    <a:pt x="68332" y="50764"/>
                    <a:pt x="106432" y="41874"/>
                    <a:pt x="106432" y="41874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349865" y="5598795"/>
            <a:ext cx="188595" cy="184785"/>
            <a:chOff x="0" y="0"/>
            <a:chExt cx="251460" cy="2463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637" y="50746"/>
              <a:ext cx="148753" cy="147163"/>
            </a:xfrm>
            <a:custGeom>
              <a:avLst/>
              <a:gdLst/>
              <a:ahLst/>
              <a:cxnLst/>
              <a:rect r="r" b="b" t="t" l="l"/>
              <a:pathLst>
                <a:path h="147163" w="148753">
                  <a:moveTo>
                    <a:pt x="148753" y="52124"/>
                  </a:moveTo>
                  <a:cubicBezTo>
                    <a:pt x="129703" y="133404"/>
                    <a:pt x="120813" y="139754"/>
                    <a:pt x="108113" y="143564"/>
                  </a:cubicBezTo>
                  <a:cubicBezTo>
                    <a:pt x="90333" y="149914"/>
                    <a:pt x="53503" y="147374"/>
                    <a:pt x="36993" y="139754"/>
                  </a:cubicBezTo>
                  <a:cubicBezTo>
                    <a:pt x="24293" y="134674"/>
                    <a:pt x="16673" y="124514"/>
                    <a:pt x="11593" y="114354"/>
                  </a:cubicBezTo>
                  <a:cubicBezTo>
                    <a:pt x="5243" y="104194"/>
                    <a:pt x="-1107" y="92764"/>
                    <a:pt x="163" y="78794"/>
                  </a:cubicBezTo>
                  <a:cubicBezTo>
                    <a:pt x="1433" y="61014"/>
                    <a:pt x="16673" y="27994"/>
                    <a:pt x="29373" y="14024"/>
                  </a:cubicBezTo>
                  <a:cubicBezTo>
                    <a:pt x="38263" y="5134"/>
                    <a:pt x="49693" y="54"/>
                    <a:pt x="62393" y="54"/>
                  </a:cubicBezTo>
                  <a:cubicBezTo>
                    <a:pt x="81443" y="-1216"/>
                    <a:pt x="129703" y="20374"/>
                    <a:pt x="129703" y="20374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29076" y="1776412"/>
            <a:ext cx="141829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639175" y="5897880"/>
            <a:ext cx="1713548" cy="354330"/>
            <a:chOff x="0" y="0"/>
            <a:chExt cx="2284730" cy="4724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588" y="47966"/>
              <a:ext cx="2186882" cy="382351"/>
            </a:xfrm>
            <a:custGeom>
              <a:avLst/>
              <a:gdLst/>
              <a:ahLst/>
              <a:cxnLst/>
              <a:rect r="r" b="b" t="t" l="l"/>
              <a:pathLst>
                <a:path h="382351" w="2186882">
                  <a:moveTo>
                    <a:pt x="471112" y="222544"/>
                  </a:moveTo>
                  <a:cubicBezTo>
                    <a:pt x="900372" y="211114"/>
                    <a:pt x="1278832" y="150154"/>
                    <a:pt x="1366462" y="174284"/>
                  </a:cubicBezTo>
                  <a:cubicBezTo>
                    <a:pt x="1393132" y="180634"/>
                    <a:pt x="1403292" y="190794"/>
                    <a:pt x="1413452" y="206034"/>
                  </a:cubicBezTo>
                  <a:cubicBezTo>
                    <a:pt x="1423612" y="220004"/>
                    <a:pt x="1429962" y="242864"/>
                    <a:pt x="1427422" y="259374"/>
                  </a:cubicBezTo>
                  <a:cubicBezTo>
                    <a:pt x="1426152" y="277154"/>
                    <a:pt x="1414722" y="298744"/>
                    <a:pt x="1402022" y="310174"/>
                  </a:cubicBezTo>
                  <a:cubicBezTo>
                    <a:pt x="1389322" y="321604"/>
                    <a:pt x="1376622" y="324144"/>
                    <a:pt x="1349952" y="330494"/>
                  </a:cubicBezTo>
                  <a:cubicBezTo>
                    <a:pt x="1261052" y="349544"/>
                    <a:pt x="871162" y="399074"/>
                    <a:pt x="768292" y="355894"/>
                  </a:cubicBezTo>
                  <a:cubicBezTo>
                    <a:pt x="721302" y="335574"/>
                    <a:pt x="684472" y="291124"/>
                    <a:pt x="684472" y="260644"/>
                  </a:cubicBezTo>
                  <a:cubicBezTo>
                    <a:pt x="684472" y="233974"/>
                    <a:pt x="720032" y="200954"/>
                    <a:pt x="754322" y="184444"/>
                  </a:cubicBezTo>
                  <a:cubicBezTo>
                    <a:pt x="806392" y="159044"/>
                    <a:pt x="900372" y="179364"/>
                    <a:pt x="984192" y="170474"/>
                  </a:cubicBezTo>
                  <a:cubicBezTo>
                    <a:pt x="1089602" y="161584"/>
                    <a:pt x="1276292" y="123484"/>
                    <a:pt x="1334712" y="127294"/>
                  </a:cubicBezTo>
                  <a:cubicBezTo>
                    <a:pt x="1353762" y="127294"/>
                    <a:pt x="1362652" y="129834"/>
                    <a:pt x="1374082" y="136184"/>
                  </a:cubicBezTo>
                  <a:cubicBezTo>
                    <a:pt x="1385512" y="142534"/>
                    <a:pt x="1396942" y="152694"/>
                    <a:pt x="1404562" y="162854"/>
                  </a:cubicBezTo>
                  <a:cubicBezTo>
                    <a:pt x="1412182" y="174284"/>
                    <a:pt x="1417262" y="188254"/>
                    <a:pt x="1418532" y="200954"/>
                  </a:cubicBezTo>
                  <a:cubicBezTo>
                    <a:pt x="1419802" y="213654"/>
                    <a:pt x="1419802" y="228894"/>
                    <a:pt x="1413452" y="241594"/>
                  </a:cubicBezTo>
                  <a:cubicBezTo>
                    <a:pt x="1407102" y="256834"/>
                    <a:pt x="1389322" y="277154"/>
                    <a:pt x="1374082" y="286044"/>
                  </a:cubicBezTo>
                  <a:cubicBezTo>
                    <a:pt x="1361382" y="293664"/>
                    <a:pt x="1355032" y="293664"/>
                    <a:pt x="1334712" y="296204"/>
                  </a:cubicBezTo>
                  <a:cubicBezTo>
                    <a:pt x="1267402" y="305094"/>
                    <a:pt x="974032" y="317794"/>
                    <a:pt x="899102" y="297474"/>
                  </a:cubicBezTo>
                  <a:cubicBezTo>
                    <a:pt x="872432" y="289854"/>
                    <a:pt x="858462" y="282234"/>
                    <a:pt x="847032" y="266994"/>
                  </a:cubicBezTo>
                  <a:cubicBezTo>
                    <a:pt x="834332" y="253024"/>
                    <a:pt x="826712" y="228894"/>
                    <a:pt x="826712" y="209844"/>
                  </a:cubicBezTo>
                  <a:cubicBezTo>
                    <a:pt x="827982" y="190794"/>
                    <a:pt x="839412" y="166664"/>
                    <a:pt x="850842" y="153964"/>
                  </a:cubicBezTo>
                  <a:cubicBezTo>
                    <a:pt x="859732" y="142534"/>
                    <a:pt x="867352" y="137454"/>
                    <a:pt x="885132" y="131104"/>
                  </a:cubicBezTo>
                  <a:cubicBezTo>
                    <a:pt x="932122" y="117134"/>
                    <a:pt x="1047692" y="132374"/>
                    <a:pt x="1154372" y="122214"/>
                  </a:cubicBezTo>
                  <a:cubicBezTo>
                    <a:pt x="1313122" y="106974"/>
                    <a:pt x="1609032" y="43474"/>
                    <a:pt x="1743652" y="28234"/>
                  </a:cubicBezTo>
                  <a:cubicBezTo>
                    <a:pt x="1812232" y="19344"/>
                    <a:pt x="1845252" y="19344"/>
                    <a:pt x="1902402" y="16804"/>
                  </a:cubicBezTo>
                  <a:cubicBezTo>
                    <a:pt x="1968442" y="14264"/>
                    <a:pt x="2076392" y="5374"/>
                    <a:pt x="2119572" y="15534"/>
                  </a:cubicBezTo>
                  <a:cubicBezTo>
                    <a:pt x="2138622" y="20614"/>
                    <a:pt x="2147512" y="26964"/>
                    <a:pt x="2157672" y="35854"/>
                  </a:cubicBezTo>
                  <a:cubicBezTo>
                    <a:pt x="2167832" y="44744"/>
                    <a:pt x="2177992" y="57444"/>
                    <a:pt x="2183072" y="71414"/>
                  </a:cubicBezTo>
                  <a:cubicBezTo>
                    <a:pt x="2188152" y="89194"/>
                    <a:pt x="2188152" y="118404"/>
                    <a:pt x="2183072" y="136184"/>
                  </a:cubicBezTo>
                  <a:cubicBezTo>
                    <a:pt x="2179262" y="150154"/>
                    <a:pt x="2169102" y="162854"/>
                    <a:pt x="2158942" y="171744"/>
                  </a:cubicBezTo>
                  <a:cubicBezTo>
                    <a:pt x="2148782" y="181904"/>
                    <a:pt x="2141162" y="186984"/>
                    <a:pt x="2120842" y="192064"/>
                  </a:cubicBezTo>
                  <a:cubicBezTo>
                    <a:pt x="2048452" y="209844"/>
                    <a:pt x="1795722" y="180634"/>
                    <a:pt x="1615382" y="192064"/>
                  </a:cubicBezTo>
                  <a:cubicBezTo>
                    <a:pt x="1405832" y="206034"/>
                    <a:pt x="1121352" y="263184"/>
                    <a:pt x="937202" y="282234"/>
                  </a:cubicBezTo>
                  <a:cubicBezTo>
                    <a:pt x="811472" y="296204"/>
                    <a:pt x="718762" y="306364"/>
                    <a:pt x="618432" y="307634"/>
                  </a:cubicBezTo>
                  <a:cubicBezTo>
                    <a:pt x="526992" y="310174"/>
                    <a:pt x="440632" y="306364"/>
                    <a:pt x="355542" y="294934"/>
                  </a:cubicBezTo>
                  <a:cubicBezTo>
                    <a:pt x="274262" y="284774"/>
                    <a:pt x="175202" y="265724"/>
                    <a:pt x="119322" y="246674"/>
                  </a:cubicBezTo>
                  <a:cubicBezTo>
                    <a:pt x="87572" y="236514"/>
                    <a:pt x="67252" y="230164"/>
                    <a:pt x="46932" y="213654"/>
                  </a:cubicBezTo>
                  <a:cubicBezTo>
                    <a:pt x="26612" y="195874"/>
                    <a:pt x="5022" y="169204"/>
                    <a:pt x="1212" y="143804"/>
                  </a:cubicBezTo>
                  <a:cubicBezTo>
                    <a:pt x="-3868" y="117134"/>
                    <a:pt x="7562" y="76494"/>
                    <a:pt x="25342" y="56174"/>
                  </a:cubicBezTo>
                  <a:cubicBezTo>
                    <a:pt x="41852" y="37124"/>
                    <a:pt x="64712" y="30774"/>
                    <a:pt x="99002" y="23154"/>
                  </a:cubicBezTo>
                  <a:cubicBezTo>
                    <a:pt x="166312" y="6644"/>
                    <a:pt x="304742" y="4104"/>
                    <a:pt x="407612" y="2834"/>
                  </a:cubicBezTo>
                  <a:cubicBezTo>
                    <a:pt x="514292" y="2834"/>
                    <a:pt x="605732" y="16804"/>
                    <a:pt x="727652" y="19344"/>
                  </a:cubicBezTo>
                  <a:cubicBezTo>
                    <a:pt x="895292" y="20614"/>
                    <a:pt x="1226762" y="-8596"/>
                    <a:pt x="1319472" y="5374"/>
                  </a:cubicBezTo>
                  <a:cubicBezTo>
                    <a:pt x="1348682" y="9184"/>
                    <a:pt x="1361382" y="12994"/>
                    <a:pt x="1375352" y="24424"/>
                  </a:cubicBezTo>
                  <a:cubicBezTo>
                    <a:pt x="1390592" y="35854"/>
                    <a:pt x="1404562" y="56174"/>
                    <a:pt x="1409642" y="73954"/>
                  </a:cubicBezTo>
                  <a:cubicBezTo>
                    <a:pt x="1414722" y="91734"/>
                    <a:pt x="1410912" y="118404"/>
                    <a:pt x="1405832" y="133644"/>
                  </a:cubicBezTo>
                  <a:cubicBezTo>
                    <a:pt x="1403292" y="145074"/>
                    <a:pt x="1398212" y="151424"/>
                    <a:pt x="1390592" y="160314"/>
                  </a:cubicBezTo>
                  <a:cubicBezTo>
                    <a:pt x="1379162" y="171744"/>
                    <a:pt x="1355032" y="185714"/>
                    <a:pt x="1339792" y="190794"/>
                  </a:cubicBezTo>
                  <a:cubicBezTo>
                    <a:pt x="1328362" y="194604"/>
                    <a:pt x="1320742" y="194604"/>
                    <a:pt x="1309312" y="192064"/>
                  </a:cubicBezTo>
                  <a:cubicBezTo>
                    <a:pt x="1292802" y="189524"/>
                    <a:pt x="1267402" y="176824"/>
                    <a:pt x="1254702" y="166664"/>
                  </a:cubicBezTo>
                  <a:cubicBezTo>
                    <a:pt x="1245812" y="160314"/>
                    <a:pt x="1240732" y="151424"/>
                    <a:pt x="1235652" y="142534"/>
                  </a:cubicBezTo>
                  <a:cubicBezTo>
                    <a:pt x="1231842" y="133644"/>
                    <a:pt x="1226762" y="126024"/>
                    <a:pt x="1226762" y="114594"/>
                  </a:cubicBezTo>
                  <a:cubicBezTo>
                    <a:pt x="1225492" y="98084"/>
                    <a:pt x="1226762" y="71414"/>
                    <a:pt x="1235652" y="54904"/>
                  </a:cubicBezTo>
                  <a:cubicBezTo>
                    <a:pt x="1244542" y="38394"/>
                    <a:pt x="1266132" y="21884"/>
                    <a:pt x="1280102" y="14264"/>
                  </a:cubicBezTo>
                  <a:cubicBezTo>
                    <a:pt x="1290262" y="7914"/>
                    <a:pt x="1297882" y="6644"/>
                    <a:pt x="1309312" y="5374"/>
                  </a:cubicBezTo>
                  <a:cubicBezTo>
                    <a:pt x="1324552" y="5374"/>
                    <a:pt x="1351222" y="9184"/>
                    <a:pt x="1367732" y="18074"/>
                  </a:cubicBezTo>
                  <a:cubicBezTo>
                    <a:pt x="1384242" y="28234"/>
                    <a:pt x="1399482" y="49824"/>
                    <a:pt x="1405832" y="63794"/>
                  </a:cubicBezTo>
                  <a:cubicBezTo>
                    <a:pt x="1410912" y="75224"/>
                    <a:pt x="1413452" y="82844"/>
                    <a:pt x="1412182" y="94274"/>
                  </a:cubicBezTo>
                  <a:cubicBezTo>
                    <a:pt x="1412182" y="110784"/>
                    <a:pt x="1407102" y="136184"/>
                    <a:pt x="1396942" y="151424"/>
                  </a:cubicBezTo>
                  <a:cubicBezTo>
                    <a:pt x="1385512" y="167934"/>
                    <a:pt x="1374082" y="179364"/>
                    <a:pt x="1348682" y="188254"/>
                  </a:cubicBezTo>
                  <a:cubicBezTo>
                    <a:pt x="1290262" y="209844"/>
                    <a:pt x="1154372" y="203494"/>
                    <a:pt x="1021022" y="207304"/>
                  </a:cubicBezTo>
                  <a:cubicBezTo>
                    <a:pt x="816552" y="211114"/>
                    <a:pt x="363162" y="204764"/>
                    <a:pt x="238702" y="194604"/>
                  </a:cubicBezTo>
                  <a:cubicBezTo>
                    <a:pt x="199332" y="190794"/>
                    <a:pt x="171392" y="198414"/>
                    <a:pt x="161232" y="181904"/>
                  </a:cubicBezTo>
                  <a:cubicBezTo>
                    <a:pt x="148532" y="162854"/>
                    <a:pt x="163772" y="89194"/>
                    <a:pt x="189172" y="73954"/>
                  </a:cubicBezTo>
                  <a:cubicBezTo>
                    <a:pt x="219652" y="56174"/>
                    <a:pt x="288232" y="103164"/>
                    <a:pt x="351732" y="110784"/>
                  </a:cubicBezTo>
                  <a:cubicBezTo>
                    <a:pt x="441902" y="123484"/>
                    <a:pt x="539692" y="129834"/>
                    <a:pt x="678122" y="124754"/>
                  </a:cubicBezTo>
                  <a:cubicBezTo>
                    <a:pt x="920692" y="114594"/>
                    <a:pt x="1410912" y="16804"/>
                    <a:pt x="1677612" y="4104"/>
                  </a:cubicBezTo>
                  <a:cubicBezTo>
                    <a:pt x="1854142" y="-3516"/>
                    <a:pt x="2052262" y="-976"/>
                    <a:pt x="2119572" y="15534"/>
                  </a:cubicBezTo>
                  <a:cubicBezTo>
                    <a:pt x="2139892" y="20614"/>
                    <a:pt x="2147512" y="26964"/>
                    <a:pt x="2157672" y="35854"/>
                  </a:cubicBezTo>
                  <a:cubicBezTo>
                    <a:pt x="2167832" y="44744"/>
                    <a:pt x="2177992" y="57444"/>
                    <a:pt x="2183072" y="71414"/>
                  </a:cubicBezTo>
                  <a:cubicBezTo>
                    <a:pt x="2188152" y="89194"/>
                    <a:pt x="2188152" y="118404"/>
                    <a:pt x="2183072" y="136184"/>
                  </a:cubicBezTo>
                  <a:cubicBezTo>
                    <a:pt x="2179262" y="150154"/>
                    <a:pt x="2169102" y="162854"/>
                    <a:pt x="2158942" y="171744"/>
                  </a:cubicBezTo>
                  <a:cubicBezTo>
                    <a:pt x="2148782" y="181904"/>
                    <a:pt x="2141162" y="186984"/>
                    <a:pt x="2120842" y="192064"/>
                  </a:cubicBezTo>
                  <a:cubicBezTo>
                    <a:pt x="2061152" y="208574"/>
                    <a:pt x="1887162" y="194604"/>
                    <a:pt x="1747462" y="207304"/>
                  </a:cubicBezTo>
                  <a:cubicBezTo>
                    <a:pt x="1567122" y="223814"/>
                    <a:pt x="1283912" y="288584"/>
                    <a:pt x="1127702" y="298744"/>
                  </a:cubicBezTo>
                  <a:cubicBezTo>
                    <a:pt x="1032452" y="306364"/>
                    <a:pt x="943552" y="306364"/>
                    <a:pt x="899102" y="297474"/>
                  </a:cubicBezTo>
                  <a:cubicBezTo>
                    <a:pt x="881322" y="293664"/>
                    <a:pt x="872432" y="289854"/>
                    <a:pt x="861002" y="282234"/>
                  </a:cubicBezTo>
                  <a:cubicBezTo>
                    <a:pt x="850842" y="273344"/>
                    <a:pt x="840682" y="263184"/>
                    <a:pt x="835602" y="250484"/>
                  </a:cubicBezTo>
                  <a:cubicBezTo>
                    <a:pt x="829252" y="233974"/>
                    <a:pt x="826712" y="206034"/>
                    <a:pt x="830522" y="189524"/>
                  </a:cubicBezTo>
                  <a:cubicBezTo>
                    <a:pt x="833062" y="175554"/>
                    <a:pt x="841952" y="162854"/>
                    <a:pt x="850842" y="153964"/>
                  </a:cubicBezTo>
                  <a:cubicBezTo>
                    <a:pt x="859732" y="143804"/>
                    <a:pt x="866082" y="137454"/>
                    <a:pt x="885132" y="131104"/>
                  </a:cubicBezTo>
                  <a:cubicBezTo>
                    <a:pt x="951172" y="112054"/>
                    <a:pt x="1287722" y="113324"/>
                    <a:pt x="1355032" y="128564"/>
                  </a:cubicBezTo>
                  <a:cubicBezTo>
                    <a:pt x="1374082" y="133644"/>
                    <a:pt x="1380432" y="138724"/>
                    <a:pt x="1390592" y="147614"/>
                  </a:cubicBezTo>
                  <a:cubicBezTo>
                    <a:pt x="1400752" y="156504"/>
                    <a:pt x="1409642" y="167934"/>
                    <a:pt x="1413452" y="180634"/>
                  </a:cubicBezTo>
                  <a:cubicBezTo>
                    <a:pt x="1418532" y="197144"/>
                    <a:pt x="1418532" y="225084"/>
                    <a:pt x="1413452" y="241594"/>
                  </a:cubicBezTo>
                  <a:cubicBezTo>
                    <a:pt x="1409642" y="255564"/>
                    <a:pt x="1400752" y="265724"/>
                    <a:pt x="1390592" y="274614"/>
                  </a:cubicBezTo>
                  <a:cubicBezTo>
                    <a:pt x="1381702" y="283504"/>
                    <a:pt x="1375352" y="287314"/>
                    <a:pt x="1355032" y="293664"/>
                  </a:cubicBezTo>
                  <a:cubicBezTo>
                    <a:pt x="1278832" y="316524"/>
                    <a:pt x="792422" y="390184"/>
                    <a:pt x="770832" y="352084"/>
                  </a:cubicBezTo>
                  <a:cubicBezTo>
                    <a:pt x="761942" y="335574"/>
                    <a:pt x="824172" y="303824"/>
                    <a:pt x="825442" y="278424"/>
                  </a:cubicBezTo>
                  <a:cubicBezTo>
                    <a:pt x="826712" y="250484"/>
                    <a:pt x="761942" y="209844"/>
                    <a:pt x="773372" y="188254"/>
                  </a:cubicBezTo>
                  <a:cubicBezTo>
                    <a:pt x="797502" y="143804"/>
                    <a:pt x="1134052" y="170474"/>
                    <a:pt x="1240732" y="170474"/>
                  </a:cubicBezTo>
                  <a:cubicBezTo>
                    <a:pt x="1295342" y="170474"/>
                    <a:pt x="1335982" y="164124"/>
                    <a:pt x="1366462" y="174284"/>
                  </a:cubicBezTo>
                  <a:cubicBezTo>
                    <a:pt x="1388052" y="180634"/>
                    <a:pt x="1404562" y="189524"/>
                    <a:pt x="1413452" y="206034"/>
                  </a:cubicBezTo>
                  <a:cubicBezTo>
                    <a:pt x="1424882" y="223814"/>
                    <a:pt x="1428692" y="258104"/>
                    <a:pt x="1423612" y="278424"/>
                  </a:cubicBezTo>
                  <a:cubicBezTo>
                    <a:pt x="1417262" y="296204"/>
                    <a:pt x="1399482" y="312714"/>
                    <a:pt x="1386782" y="321604"/>
                  </a:cubicBezTo>
                  <a:cubicBezTo>
                    <a:pt x="1375352" y="327954"/>
                    <a:pt x="1370272" y="327954"/>
                    <a:pt x="1349952" y="330494"/>
                  </a:cubicBezTo>
                  <a:cubicBezTo>
                    <a:pt x="1248352" y="345734"/>
                    <a:pt x="560012" y="404154"/>
                    <a:pt x="452062" y="373674"/>
                  </a:cubicBezTo>
                  <a:cubicBezTo>
                    <a:pt x="426662" y="366054"/>
                    <a:pt x="417772" y="355894"/>
                    <a:pt x="407612" y="341924"/>
                  </a:cubicBezTo>
                  <a:cubicBezTo>
                    <a:pt x="398722" y="329224"/>
                    <a:pt x="393642" y="306364"/>
                    <a:pt x="394912" y="289854"/>
                  </a:cubicBezTo>
                  <a:cubicBezTo>
                    <a:pt x="397452" y="273344"/>
                    <a:pt x="407612" y="253024"/>
                    <a:pt x="420312" y="241594"/>
                  </a:cubicBezTo>
                  <a:cubicBezTo>
                    <a:pt x="433012" y="231434"/>
                    <a:pt x="471112" y="222544"/>
                    <a:pt x="471112" y="222544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981122" y="5699760"/>
            <a:ext cx="836295" cy="200025"/>
            <a:chOff x="0" y="0"/>
            <a:chExt cx="1115060" cy="266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236" y="52143"/>
              <a:ext cx="1014431" cy="174650"/>
            </a:xfrm>
            <a:custGeom>
              <a:avLst/>
              <a:gdLst/>
              <a:ahLst/>
              <a:cxnLst/>
              <a:rect r="r" b="b" t="t" l="l"/>
              <a:pathLst>
                <a:path h="174650" w="1014431">
                  <a:moveTo>
                    <a:pt x="75494" y="8817"/>
                  </a:moveTo>
                  <a:cubicBezTo>
                    <a:pt x="975924" y="8817"/>
                    <a:pt x="992434" y="21517"/>
                    <a:pt x="1003864" y="38027"/>
                  </a:cubicBezTo>
                  <a:cubicBezTo>
                    <a:pt x="1014024" y="51997"/>
                    <a:pt x="1015294" y="72317"/>
                    <a:pt x="1014024" y="88827"/>
                  </a:cubicBezTo>
                  <a:cubicBezTo>
                    <a:pt x="1011484" y="104067"/>
                    <a:pt x="1002594" y="123117"/>
                    <a:pt x="991164" y="134547"/>
                  </a:cubicBezTo>
                  <a:cubicBezTo>
                    <a:pt x="979734" y="145977"/>
                    <a:pt x="961954" y="154867"/>
                    <a:pt x="946714" y="157407"/>
                  </a:cubicBezTo>
                  <a:cubicBezTo>
                    <a:pt x="930204" y="158677"/>
                    <a:pt x="909884" y="157407"/>
                    <a:pt x="895914" y="147247"/>
                  </a:cubicBezTo>
                  <a:cubicBezTo>
                    <a:pt x="879404" y="135817"/>
                    <a:pt x="857814" y="106607"/>
                    <a:pt x="855274" y="85017"/>
                  </a:cubicBezTo>
                  <a:cubicBezTo>
                    <a:pt x="854004" y="63427"/>
                    <a:pt x="867974" y="30407"/>
                    <a:pt x="884484" y="16437"/>
                  </a:cubicBezTo>
                  <a:cubicBezTo>
                    <a:pt x="900994" y="2467"/>
                    <a:pt x="936554" y="-3883"/>
                    <a:pt x="958144" y="2467"/>
                  </a:cubicBezTo>
                  <a:cubicBezTo>
                    <a:pt x="978464" y="7547"/>
                    <a:pt x="1003864" y="32947"/>
                    <a:pt x="1010214" y="54537"/>
                  </a:cubicBezTo>
                  <a:cubicBezTo>
                    <a:pt x="1017834" y="74857"/>
                    <a:pt x="1008944" y="110417"/>
                    <a:pt x="997514" y="126927"/>
                  </a:cubicBezTo>
                  <a:cubicBezTo>
                    <a:pt x="987354" y="142167"/>
                    <a:pt x="973384" y="148517"/>
                    <a:pt x="954334" y="154867"/>
                  </a:cubicBezTo>
                  <a:cubicBezTo>
                    <a:pt x="926394" y="165027"/>
                    <a:pt x="897184" y="161217"/>
                    <a:pt x="842574" y="162487"/>
                  </a:cubicBezTo>
                  <a:cubicBezTo>
                    <a:pt x="699064" y="167567"/>
                    <a:pt x="156774" y="189157"/>
                    <a:pt x="57714" y="158677"/>
                  </a:cubicBezTo>
                  <a:cubicBezTo>
                    <a:pt x="32314" y="149787"/>
                    <a:pt x="23424" y="140897"/>
                    <a:pt x="13264" y="126927"/>
                  </a:cubicBezTo>
                  <a:cubicBezTo>
                    <a:pt x="4374" y="114227"/>
                    <a:pt x="-1976" y="91367"/>
                    <a:pt x="564" y="74857"/>
                  </a:cubicBezTo>
                  <a:cubicBezTo>
                    <a:pt x="3104" y="58347"/>
                    <a:pt x="13264" y="39297"/>
                    <a:pt x="25964" y="27867"/>
                  </a:cubicBezTo>
                  <a:cubicBezTo>
                    <a:pt x="38664" y="16437"/>
                    <a:pt x="75494" y="8817"/>
                    <a:pt x="75494" y="8817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906828" y="5386388"/>
            <a:ext cx="1463992" cy="327660"/>
            <a:chOff x="0" y="0"/>
            <a:chExt cx="1951990" cy="436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311" y="50342"/>
              <a:ext cx="1851203" cy="351977"/>
            </a:xfrm>
            <a:custGeom>
              <a:avLst/>
              <a:gdLst/>
              <a:ahLst/>
              <a:cxnLst/>
              <a:rect r="r" b="b" t="t" l="l"/>
              <a:pathLst>
                <a:path h="351977" w="1851203">
                  <a:moveTo>
                    <a:pt x="874249" y="180798"/>
                  </a:moveTo>
                  <a:cubicBezTo>
                    <a:pt x="1551159" y="179528"/>
                    <a:pt x="1561319" y="189688"/>
                    <a:pt x="1571479" y="204928"/>
                  </a:cubicBezTo>
                  <a:cubicBezTo>
                    <a:pt x="1580369" y="220168"/>
                    <a:pt x="1586719" y="244298"/>
                    <a:pt x="1582909" y="263348"/>
                  </a:cubicBezTo>
                  <a:cubicBezTo>
                    <a:pt x="1580369" y="281128"/>
                    <a:pt x="1566399" y="302718"/>
                    <a:pt x="1554969" y="314148"/>
                  </a:cubicBezTo>
                  <a:cubicBezTo>
                    <a:pt x="1544809" y="323038"/>
                    <a:pt x="1539729" y="326848"/>
                    <a:pt x="1519409" y="331928"/>
                  </a:cubicBezTo>
                  <a:cubicBezTo>
                    <a:pt x="1415269" y="353518"/>
                    <a:pt x="679939" y="324308"/>
                    <a:pt x="532619" y="309068"/>
                  </a:cubicBezTo>
                  <a:cubicBezTo>
                    <a:pt x="488169" y="303988"/>
                    <a:pt x="480549" y="302718"/>
                    <a:pt x="448799" y="293828"/>
                  </a:cubicBezTo>
                  <a:cubicBezTo>
                    <a:pt x="403079" y="279858"/>
                    <a:pt x="317989" y="256998"/>
                    <a:pt x="287509" y="229058"/>
                  </a:cubicBezTo>
                  <a:cubicBezTo>
                    <a:pt x="269729" y="212548"/>
                    <a:pt x="262109" y="193498"/>
                    <a:pt x="259569" y="173178"/>
                  </a:cubicBezTo>
                  <a:cubicBezTo>
                    <a:pt x="257029" y="154128"/>
                    <a:pt x="264649" y="128728"/>
                    <a:pt x="274809" y="113488"/>
                  </a:cubicBezTo>
                  <a:cubicBezTo>
                    <a:pt x="286239" y="96978"/>
                    <a:pt x="301479" y="89358"/>
                    <a:pt x="326879" y="79198"/>
                  </a:cubicBezTo>
                  <a:cubicBezTo>
                    <a:pt x="384029" y="55068"/>
                    <a:pt x="527539" y="30938"/>
                    <a:pt x="621519" y="20778"/>
                  </a:cubicBezTo>
                  <a:cubicBezTo>
                    <a:pt x="707879" y="11888"/>
                    <a:pt x="772649" y="16968"/>
                    <a:pt x="867899" y="18238"/>
                  </a:cubicBezTo>
                  <a:cubicBezTo>
                    <a:pt x="1003789" y="22048"/>
                    <a:pt x="1199369" y="43638"/>
                    <a:pt x="1356849" y="46178"/>
                  </a:cubicBezTo>
                  <a:cubicBezTo>
                    <a:pt x="1502899" y="48718"/>
                    <a:pt x="1714989" y="20778"/>
                    <a:pt x="1781029" y="36018"/>
                  </a:cubicBezTo>
                  <a:cubicBezTo>
                    <a:pt x="1801349" y="41098"/>
                    <a:pt x="1808969" y="46178"/>
                    <a:pt x="1820399" y="56338"/>
                  </a:cubicBezTo>
                  <a:cubicBezTo>
                    <a:pt x="1833099" y="70308"/>
                    <a:pt x="1848339" y="94438"/>
                    <a:pt x="1850879" y="114758"/>
                  </a:cubicBezTo>
                  <a:cubicBezTo>
                    <a:pt x="1852149" y="135078"/>
                    <a:pt x="1845799" y="161748"/>
                    <a:pt x="1834369" y="178258"/>
                  </a:cubicBezTo>
                  <a:cubicBezTo>
                    <a:pt x="1822939" y="194768"/>
                    <a:pt x="1805159" y="206198"/>
                    <a:pt x="1781029" y="216358"/>
                  </a:cubicBezTo>
                  <a:cubicBezTo>
                    <a:pt x="1739119" y="231598"/>
                    <a:pt x="1681969" y="232868"/>
                    <a:pt x="1598149" y="237948"/>
                  </a:cubicBezTo>
                  <a:cubicBezTo>
                    <a:pt x="1410189" y="246838"/>
                    <a:pt x="890759" y="210008"/>
                    <a:pt x="681209" y="221438"/>
                  </a:cubicBezTo>
                  <a:cubicBezTo>
                    <a:pt x="570719" y="227788"/>
                    <a:pt x="504679" y="248108"/>
                    <a:pt x="429749" y="253188"/>
                  </a:cubicBezTo>
                  <a:cubicBezTo>
                    <a:pt x="370059" y="256998"/>
                    <a:pt x="325609" y="260808"/>
                    <a:pt x="268459" y="254458"/>
                  </a:cubicBezTo>
                  <a:cubicBezTo>
                    <a:pt x="199879" y="248108"/>
                    <a:pt x="89389" y="227788"/>
                    <a:pt x="50019" y="207468"/>
                  </a:cubicBezTo>
                  <a:cubicBezTo>
                    <a:pt x="32239" y="198578"/>
                    <a:pt x="24619" y="189688"/>
                    <a:pt x="16999" y="178258"/>
                  </a:cubicBezTo>
                  <a:cubicBezTo>
                    <a:pt x="8109" y="165558"/>
                    <a:pt x="1759" y="151588"/>
                    <a:pt x="489" y="136348"/>
                  </a:cubicBezTo>
                  <a:cubicBezTo>
                    <a:pt x="-781" y="117298"/>
                    <a:pt x="6839" y="88088"/>
                    <a:pt x="16999" y="72848"/>
                  </a:cubicBezTo>
                  <a:cubicBezTo>
                    <a:pt x="24619" y="58878"/>
                    <a:pt x="36049" y="49988"/>
                    <a:pt x="50019" y="43638"/>
                  </a:cubicBezTo>
                  <a:cubicBezTo>
                    <a:pt x="67799" y="34748"/>
                    <a:pt x="93199" y="41098"/>
                    <a:pt x="116059" y="34748"/>
                  </a:cubicBezTo>
                  <a:cubicBezTo>
                    <a:pt x="140189" y="29668"/>
                    <a:pt x="164319" y="11888"/>
                    <a:pt x="189719" y="5538"/>
                  </a:cubicBezTo>
                  <a:cubicBezTo>
                    <a:pt x="215119" y="458"/>
                    <a:pt x="236709" y="-812"/>
                    <a:pt x="267189" y="458"/>
                  </a:cubicBezTo>
                  <a:cubicBezTo>
                    <a:pt x="310369" y="1728"/>
                    <a:pt x="347199" y="16968"/>
                    <a:pt x="425939" y="22048"/>
                  </a:cubicBezTo>
                  <a:cubicBezTo>
                    <a:pt x="651999" y="36018"/>
                    <a:pt x="1637519" y="-9702"/>
                    <a:pt x="1746739" y="16968"/>
                  </a:cubicBezTo>
                  <a:cubicBezTo>
                    <a:pt x="1763249" y="20778"/>
                    <a:pt x="1765789" y="23318"/>
                    <a:pt x="1773409" y="30938"/>
                  </a:cubicBezTo>
                  <a:cubicBezTo>
                    <a:pt x="1786109" y="42368"/>
                    <a:pt x="1802619" y="62688"/>
                    <a:pt x="1807699" y="80468"/>
                  </a:cubicBezTo>
                  <a:cubicBezTo>
                    <a:pt x="1811509" y="98248"/>
                    <a:pt x="1810239" y="122378"/>
                    <a:pt x="1803889" y="140158"/>
                  </a:cubicBezTo>
                  <a:cubicBezTo>
                    <a:pt x="1796269" y="157938"/>
                    <a:pt x="1781029" y="175718"/>
                    <a:pt x="1765789" y="185878"/>
                  </a:cubicBezTo>
                  <a:cubicBezTo>
                    <a:pt x="1749279" y="194768"/>
                    <a:pt x="1722609" y="198578"/>
                    <a:pt x="1707369" y="198578"/>
                  </a:cubicBezTo>
                  <a:cubicBezTo>
                    <a:pt x="1695939" y="197308"/>
                    <a:pt x="1688319" y="196038"/>
                    <a:pt x="1678159" y="189688"/>
                  </a:cubicBezTo>
                  <a:cubicBezTo>
                    <a:pt x="1664189" y="182068"/>
                    <a:pt x="1643869" y="163018"/>
                    <a:pt x="1634979" y="149048"/>
                  </a:cubicBezTo>
                  <a:cubicBezTo>
                    <a:pt x="1628629" y="140158"/>
                    <a:pt x="1627359" y="129998"/>
                    <a:pt x="1624819" y="121108"/>
                  </a:cubicBezTo>
                  <a:cubicBezTo>
                    <a:pt x="1623549" y="110948"/>
                    <a:pt x="1622279" y="102058"/>
                    <a:pt x="1624819" y="90628"/>
                  </a:cubicBezTo>
                  <a:cubicBezTo>
                    <a:pt x="1628629" y="75388"/>
                    <a:pt x="1640059" y="51258"/>
                    <a:pt x="1652759" y="37288"/>
                  </a:cubicBezTo>
                  <a:cubicBezTo>
                    <a:pt x="1666729" y="24588"/>
                    <a:pt x="1688319" y="14428"/>
                    <a:pt x="1707369" y="13158"/>
                  </a:cubicBezTo>
                  <a:cubicBezTo>
                    <a:pt x="1726419" y="10618"/>
                    <a:pt x="1749279" y="15698"/>
                    <a:pt x="1765789" y="25858"/>
                  </a:cubicBezTo>
                  <a:cubicBezTo>
                    <a:pt x="1781029" y="34748"/>
                    <a:pt x="1796269" y="53798"/>
                    <a:pt x="1803889" y="71578"/>
                  </a:cubicBezTo>
                  <a:cubicBezTo>
                    <a:pt x="1810239" y="88088"/>
                    <a:pt x="1811509" y="112218"/>
                    <a:pt x="1806429" y="129998"/>
                  </a:cubicBezTo>
                  <a:cubicBezTo>
                    <a:pt x="1802619" y="149048"/>
                    <a:pt x="1788649" y="168098"/>
                    <a:pt x="1773409" y="179528"/>
                  </a:cubicBezTo>
                  <a:cubicBezTo>
                    <a:pt x="1758169" y="190958"/>
                    <a:pt x="1744199" y="193498"/>
                    <a:pt x="1717529" y="198578"/>
                  </a:cubicBezTo>
                  <a:cubicBezTo>
                    <a:pt x="1650219" y="211278"/>
                    <a:pt x="1490199" y="212548"/>
                    <a:pt x="1356849" y="212548"/>
                  </a:cubicBezTo>
                  <a:cubicBezTo>
                    <a:pt x="1190479" y="213818"/>
                    <a:pt x="969499" y="197308"/>
                    <a:pt x="799319" y="197308"/>
                  </a:cubicBezTo>
                  <a:cubicBezTo>
                    <a:pt x="651999" y="197308"/>
                    <a:pt x="497059" y="212548"/>
                    <a:pt x="392919" y="207468"/>
                  </a:cubicBezTo>
                  <a:cubicBezTo>
                    <a:pt x="325609" y="204928"/>
                    <a:pt x="282429" y="185878"/>
                    <a:pt x="227819" y="187148"/>
                  </a:cubicBezTo>
                  <a:cubicBezTo>
                    <a:pt x="174479" y="188418"/>
                    <a:pt x="104629" y="221438"/>
                    <a:pt x="70339" y="215088"/>
                  </a:cubicBezTo>
                  <a:cubicBezTo>
                    <a:pt x="52559" y="212548"/>
                    <a:pt x="42399" y="206198"/>
                    <a:pt x="30969" y="194768"/>
                  </a:cubicBezTo>
                  <a:cubicBezTo>
                    <a:pt x="18269" y="180798"/>
                    <a:pt x="3029" y="156668"/>
                    <a:pt x="489" y="136348"/>
                  </a:cubicBezTo>
                  <a:cubicBezTo>
                    <a:pt x="-2051" y="116028"/>
                    <a:pt x="5569" y="89358"/>
                    <a:pt x="16999" y="72848"/>
                  </a:cubicBezTo>
                  <a:cubicBezTo>
                    <a:pt x="28429" y="55068"/>
                    <a:pt x="43669" y="41098"/>
                    <a:pt x="71609" y="34748"/>
                  </a:cubicBezTo>
                  <a:cubicBezTo>
                    <a:pt x="126219" y="22048"/>
                    <a:pt x="253219" y="69038"/>
                    <a:pt x="349739" y="70308"/>
                  </a:cubicBezTo>
                  <a:cubicBezTo>
                    <a:pt x="455149" y="72848"/>
                    <a:pt x="542779" y="44908"/>
                    <a:pt x="681209" y="38558"/>
                  </a:cubicBezTo>
                  <a:cubicBezTo>
                    <a:pt x="911079" y="29668"/>
                    <a:pt x="1417809" y="60148"/>
                    <a:pt x="1605769" y="52528"/>
                  </a:cubicBezTo>
                  <a:cubicBezTo>
                    <a:pt x="1687049" y="49988"/>
                    <a:pt x="1740389" y="25858"/>
                    <a:pt x="1781029" y="36018"/>
                  </a:cubicBezTo>
                  <a:cubicBezTo>
                    <a:pt x="1805159" y="42368"/>
                    <a:pt x="1822939" y="58878"/>
                    <a:pt x="1834369" y="72848"/>
                  </a:cubicBezTo>
                  <a:cubicBezTo>
                    <a:pt x="1844529" y="85548"/>
                    <a:pt x="1848339" y="100788"/>
                    <a:pt x="1850879" y="114758"/>
                  </a:cubicBezTo>
                  <a:cubicBezTo>
                    <a:pt x="1852149" y="128728"/>
                    <a:pt x="1849609" y="145238"/>
                    <a:pt x="1844529" y="159208"/>
                  </a:cubicBezTo>
                  <a:cubicBezTo>
                    <a:pt x="1839449" y="171908"/>
                    <a:pt x="1830559" y="185878"/>
                    <a:pt x="1820399" y="194768"/>
                  </a:cubicBezTo>
                  <a:cubicBezTo>
                    <a:pt x="1808969" y="204928"/>
                    <a:pt x="1800079" y="210008"/>
                    <a:pt x="1781029" y="216358"/>
                  </a:cubicBezTo>
                  <a:cubicBezTo>
                    <a:pt x="1735309" y="229058"/>
                    <a:pt x="1632439" y="229058"/>
                    <a:pt x="1537189" y="230328"/>
                  </a:cubicBezTo>
                  <a:cubicBezTo>
                    <a:pt x="1402569" y="234138"/>
                    <a:pt x="1194289" y="229058"/>
                    <a:pt x="1046969" y="221438"/>
                  </a:cubicBezTo>
                  <a:cubicBezTo>
                    <a:pt x="925049" y="216358"/>
                    <a:pt x="831069" y="193498"/>
                    <a:pt x="715499" y="196038"/>
                  </a:cubicBezTo>
                  <a:cubicBezTo>
                    <a:pt x="591039" y="199848"/>
                    <a:pt x="385299" y="260808"/>
                    <a:pt x="324339" y="249378"/>
                  </a:cubicBezTo>
                  <a:cubicBezTo>
                    <a:pt x="305289" y="245568"/>
                    <a:pt x="297669" y="237948"/>
                    <a:pt x="287509" y="229058"/>
                  </a:cubicBezTo>
                  <a:cubicBezTo>
                    <a:pt x="277349" y="220168"/>
                    <a:pt x="268459" y="207468"/>
                    <a:pt x="264649" y="194768"/>
                  </a:cubicBezTo>
                  <a:cubicBezTo>
                    <a:pt x="259569" y="182068"/>
                    <a:pt x="258299" y="165558"/>
                    <a:pt x="259569" y="152858"/>
                  </a:cubicBezTo>
                  <a:cubicBezTo>
                    <a:pt x="262109" y="138888"/>
                    <a:pt x="267189" y="124918"/>
                    <a:pt x="274809" y="113488"/>
                  </a:cubicBezTo>
                  <a:cubicBezTo>
                    <a:pt x="283699" y="102058"/>
                    <a:pt x="295129" y="91898"/>
                    <a:pt x="306559" y="85548"/>
                  </a:cubicBezTo>
                  <a:cubicBezTo>
                    <a:pt x="319259" y="79198"/>
                    <a:pt x="329419" y="75388"/>
                    <a:pt x="348469" y="76658"/>
                  </a:cubicBezTo>
                  <a:cubicBezTo>
                    <a:pt x="387839" y="77928"/>
                    <a:pt x="488169" y="127458"/>
                    <a:pt x="538969" y="137618"/>
                  </a:cubicBezTo>
                  <a:cubicBezTo>
                    <a:pt x="571989" y="143968"/>
                    <a:pt x="579609" y="142698"/>
                    <a:pt x="620249" y="143968"/>
                  </a:cubicBezTo>
                  <a:cubicBezTo>
                    <a:pt x="747249" y="150318"/>
                    <a:pt x="1251439" y="142698"/>
                    <a:pt x="1398759" y="152858"/>
                  </a:cubicBezTo>
                  <a:cubicBezTo>
                    <a:pt x="1458449" y="157938"/>
                    <a:pt x="1492739" y="157938"/>
                    <a:pt x="1523219" y="170638"/>
                  </a:cubicBezTo>
                  <a:cubicBezTo>
                    <a:pt x="1544809" y="179528"/>
                    <a:pt x="1561319" y="189688"/>
                    <a:pt x="1571479" y="204928"/>
                  </a:cubicBezTo>
                  <a:cubicBezTo>
                    <a:pt x="1580369" y="220168"/>
                    <a:pt x="1586719" y="244298"/>
                    <a:pt x="1582909" y="263348"/>
                  </a:cubicBezTo>
                  <a:cubicBezTo>
                    <a:pt x="1580369" y="281128"/>
                    <a:pt x="1566399" y="302718"/>
                    <a:pt x="1554969" y="314148"/>
                  </a:cubicBezTo>
                  <a:cubicBezTo>
                    <a:pt x="1544809" y="323038"/>
                    <a:pt x="1539729" y="326848"/>
                    <a:pt x="1519409" y="331928"/>
                  </a:cubicBezTo>
                  <a:cubicBezTo>
                    <a:pt x="1436859" y="350978"/>
                    <a:pt x="945369" y="363678"/>
                    <a:pt x="855199" y="335738"/>
                  </a:cubicBezTo>
                  <a:cubicBezTo>
                    <a:pt x="828529" y="326848"/>
                    <a:pt x="819639" y="317958"/>
                    <a:pt x="809479" y="303988"/>
                  </a:cubicBezTo>
                  <a:cubicBezTo>
                    <a:pt x="799319" y="290018"/>
                    <a:pt x="794239" y="267158"/>
                    <a:pt x="796779" y="249378"/>
                  </a:cubicBezTo>
                  <a:cubicBezTo>
                    <a:pt x="798049" y="232868"/>
                    <a:pt x="809479" y="212548"/>
                    <a:pt x="822179" y="201118"/>
                  </a:cubicBezTo>
                  <a:cubicBezTo>
                    <a:pt x="834879" y="189688"/>
                    <a:pt x="874249" y="180798"/>
                    <a:pt x="874249" y="180798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136505" y="5394960"/>
            <a:ext cx="491490" cy="240983"/>
            <a:chOff x="0" y="0"/>
            <a:chExt cx="655320" cy="321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9778" y="48296"/>
              <a:ext cx="561190" cy="221111"/>
            </a:xfrm>
            <a:custGeom>
              <a:avLst/>
              <a:gdLst/>
              <a:ahLst/>
              <a:cxnLst/>
              <a:rect r="r" b="b" t="t" l="l"/>
              <a:pathLst>
                <a:path h="221111" w="561190">
                  <a:moveTo>
                    <a:pt x="106432" y="41874"/>
                  </a:moveTo>
                  <a:cubicBezTo>
                    <a:pt x="429012" y="54574"/>
                    <a:pt x="429012" y="112994"/>
                    <a:pt x="416312" y="137124"/>
                  </a:cubicBezTo>
                  <a:cubicBezTo>
                    <a:pt x="404882" y="158714"/>
                    <a:pt x="373132" y="163794"/>
                    <a:pt x="337572" y="175224"/>
                  </a:cubicBezTo>
                  <a:cubicBezTo>
                    <a:pt x="274072" y="194274"/>
                    <a:pt x="117862" y="231104"/>
                    <a:pt x="64522" y="217134"/>
                  </a:cubicBezTo>
                  <a:cubicBezTo>
                    <a:pt x="39122" y="210784"/>
                    <a:pt x="23882" y="196814"/>
                    <a:pt x="13722" y="180304"/>
                  </a:cubicBezTo>
                  <a:cubicBezTo>
                    <a:pt x="3562" y="163794"/>
                    <a:pt x="-248" y="135854"/>
                    <a:pt x="1022" y="118074"/>
                  </a:cubicBezTo>
                  <a:cubicBezTo>
                    <a:pt x="2292" y="104104"/>
                    <a:pt x="8642" y="91404"/>
                    <a:pt x="17532" y="79974"/>
                  </a:cubicBezTo>
                  <a:cubicBezTo>
                    <a:pt x="30232" y="66004"/>
                    <a:pt x="50552" y="49494"/>
                    <a:pt x="70872" y="45684"/>
                  </a:cubicBezTo>
                  <a:cubicBezTo>
                    <a:pt x="93732" y="41874"/>
                    <a:pt x="131832" y="55844"/>
                    <a:pt x="147072" y="66004"/>
                  </a:cubicBezTo>
                  <a:cubicBezTo>
                    <a:pt x="155962" y="72354"/>
                    <a:pt x="161042" y="77434"/>
                    <a:pt x="164852" y="87594"/>
                  </a:cubicBezTo>
                  <a:cubicBezTo>
                    <a:pt x="172472" y="106644"/>
                    <a:pt x="178822" y="148554"/>
                    <a:pt x="168662" y="171414"/>
                  </a:cubicBezTo>
                  <a:cubicBezTo>
                    <a:pt x="158502" y="193004"/>
                    <a:pt x="125482" y="217134"/>
                    <a:pt x="101352" y="219674"/>
                  </a:cubicBezTo>
                  <a:cubicBezTo>
                    <a:pt x="77222" y="223484"/>
                    <a:pt x="40392" y="210784"/>
                    <a:pt x="23882" y="193004"/>
                  </a:cubicBezTo>
                  <a:cubicBezTo>
                    <a:pt x="7372" y="173954"/>
                    <a:pt x="-2788" y="135854"/>
                    <a:pt x="2292" y="111724"/>
                  </a:cubicBezTo>
                  <a:cubicBezTo>
                    <a:pt x="8642" y="88864"/>
                    <a:pt x="34042" y="58384"/>
                    <a:pt x="56902" y="49494"/>
                  </a:cubicBezTo>
                  <a:cubicBezTo>
                    <a:pt x="79762" y="40604"/>
                    <a:pt x="119132" y="45684"/>
                    <a:pt x="139452" y="59654"/>
                  </a:cubicBezTo>
                  <a:cubicBezTo>
                    <a:pt x="159772" y="73624"/>
                    <a:pt x="177552" y="109184"/>
                    <a:pt x="177552" y="134584"/>
                  </a:cubicBezTo>
                  <a:cubicBezTo>
                    <a:pt x="176282" y="158714"/>
                    <a:pt x="157232" y="193004"/>
                    <a:pt x="136912" y="206974"/>
                  </a:cubicBezTo>
                  <a:cubicBezTo>
                    <a:pt x="116592" y="219674"/>
                    <a:pt x="54362" y="210784"/>
                    <a:pt x="54362" y="214594"/>
                  </a:cubicBezTo>
                  <a:cubicBezTo>
                    <a:pt x="54362" y="215864"/>
                    <a:pt x="84842" y="222214"/>
                    <a:pt x="84842" y="220944"/>
                  </a:cubicBezTo>
                  <a:cubicBezTo>
                    <a:pt x="86112" y="219674"/>
                    <a:pt x="41662" y="208244"/>
                    <a:pt x="27692" y="196814"/>
                  </a:cubicBezTo>
                  <a:cubicBezTo>
                    <a:pt x="16262" y="186654"/>
                    <a:pt x="8642" y="173954"/>
                    <a:pt x="4832" y="161254"/>
                  </a:cubicBezTo>
                  <a:cubicBezTo>
                    <a:pt x="1022" y="147284"/>
                    <a:pt x="-1518" y="133314"/>
                    <a:pt x="1022" y="118074"/>
                  </a:cubicBezTo>
                  <a:cubicBezTo>
                    <a:pt x="4832" y="100294"/>
                    <a:pt x="16262" y="78704"/>
                    <a:pt x="32772" y="64734"/>
                  </a:cubicBezTo>
                  <a:cubicBezTo>
                    <a:pt x="54362" y="45684"/>
                    <a:pt x="93732" y="35524"/>
                    <a:pt x="131832" y="26634"/>
                  </a:cubicBezTo>
                  <a:cubicBezTo>
                    <a:pt x="178822" y="13934"/>
                    <a:pt x="248672" y="6314"/>
                    <a:pt x="295662" y="3774"/>
                  </a:cubicBezTo>
                  <a:cubicBezTo>
                    <a:pt x="329952" y="1234"/>
                    <a:pt x="351542" y="-2576"/>
                    <a:pt x="384562" y="2504"/>
                  </a:cubicBezTo>
                  <a:cubicBezTo>
                    <a:pt x="430282" y="8854"/>
                    <a:pt x="511562" y="15204"/>
                    <a:pt x="538232" y="46954"/>
                  </a:cubicBezTo>
                  <a:cubicBezTo>
                    <a:pt x="561092" y="72354"/>
                    <a:pt x="567442" y="133314"/>
                    <a:pt x="554742" y="159984"/>
                  </a:cubicBezTo>
                  <a:cubicBezTo>
                    <a:pt x="543312" y="181574"/>
                    <a:pt x="516642" y="191734"/>
                    <a:pt x="479812" y="200624"/>
                  </a:cubicBezTo>
                  <a:cubicBezTo>
                    <a:pt x="402342" y="219674"/>
                    <a:pt x="153422" y="217134"/>
                    <a:pt x="88652" y="196814"/>
                  </a:cubicBezTo>
                  <a:cubicBezTo>
                    <a:pt x="63252" y="189194"/>
                    <a:pt x="51822" y="179034"/>
                    <a:pt x="42932" y="165064"/>
                  </a:cubicBezTo>
                  <a:cubicBezTo>
                    <a:pt x="32772" y="151094"/>
                    <a:pt x="27692" y="128234"/>
                    <a:pt x="28962" y="111724"/>
                  </a:cubicBezTo>
                  <a:cubicBezTo>
                    <a:pt x="31502" y="93944"/>
                    <a:pt x="41662" y="73624"/>
                    <a:pt x="55632" y="62194"/>
                  </a:cubicBezTo>
                  <a:cubicBezTo>
                    <a:pt x="68332" y="50764"/>
                    <a:pt x="106432" y="41874"/>
                    <a:pt x="106432" y="41874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349865" y="5598795"/>
            <a:ext cx="188595" cy="184785"/>
            <a:chOff x="0" y="0"/>
            <a:chExt cx="251460" cy="2463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637" y="50746"/>
              <a:ext cx="148753" cy="147163"/>
            </a:xfrm>
            <a:custGeom>
              <a:avLst/>
              <a:gdLst/>
              <a:ahLst/>
              <a:cxnLst/>
              <a:rect r="r" b="b" t="t" l="l"/>
              <a:pathLst>
                <a:path h="147163" w="148753">
                  <a:moveTo>
                    <a:pt x="148753" y="52124"/>
                  </a:moveTo>
                  <a:cubicBezTo>
                    <a:pt x="129703" y="133404"/>
                    <a:pt x="120813" y="139754"/>
                    <a:pt x="108113" y="143564"/>
                  </a:cubicBezTo>
                  <a:cubicBezTo>
                    <a:pt x="90333" y="149914"/>
                    <a:pt x="53503" y="147374"/>
                    <a:pt x="36993" y="139754"/>
                  </a:cubicBezTo>
                  <a:cubicBezTo>
                    <a:pt x="24293" y="134674"/>
                    <a:pt x="16673" y="124514"/>
                    <a:pt x="11593" y="114354"/>
                  </a:cubicBezTo>
                  <a:cubicBezTo>
                    <a:pt x="5243" y="104194"/>
                    <a:pt x="-1107" y="92764"/>
                    <a:pt x="163" y="78794"/>
                  </a:cubicBezTo>
                  <a:cubicBezTo>
                    <a:pt x="1433" y="61014"/>
                    <a:pt x="16673" y="27994"/>
                    <a:pt x="29373" y="14024"/>
                  </a:cubicBezTo>
                  <a:cubicBezTo>
                    <a:pt x="38263" y="5134"/>
                    <a:pt x="49693" y="54"/>
                    <a:pt x="62393" y="54"/>
                  </a:cubicBezTo>
                  <a:cubicBezTo>
                    <a:pt x="81443" y="-1216"/>
                    <a:pt x="129703" y="20374"/>
                    <a:pt x="129703" y="20374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232979" y="0"/>
            <a:ext cx="12152472" cy="10507700"/>
          </a:xfrm>
          <a:custGeom>
            <a:avLst/>
            <a:gdLst/>
            <a:ahLst/>
            <a:cxnLst/>
            <a:rect r="r" b="b" t="t" l="l"/>
            <a:pathLst>
              <a:path h="10507700" w="12152472">
                <a:moveTo>
                  <a:pt x="0" y="0"/>
                </a:moveTo>
                <a:lnTo>
                  <a:pt x="12152472" y="0"/>
                </a:lnTo>
                <a:lnTo>
                  <a:pt x="12152472" y="10507700"/>
                </a:lnTo>
                <a:lnTo>
                  <a:pt x="0" y="1050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9" r="0" b="-30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29076" y="285750"/>
            <a:ext cx="5576192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D3B7D"/>
                </a:solidFill>
                <a:latin typeface="Arial Bold"/>
                <a:ea typeface="Arial Bold"/>
                <a:cs typeface="Arial Bold"/>
                <a:sym typeface="Arial Bold"/>
              </a:rPr>
              <a:t>Tables &amp; </a:t>
            </a:r>
          </a:p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1D3B7D"/>
                </a:solidFill>
                <a:latin typeface="Arial Bold"/>
                <a:ea typeface="Arial Bold"/>
                <a:cs typeface="Arial Bold"/>
                <a:sym typeface="Arial Bold"/>
              </a:rPr>
              <a:t>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661" y="9884597"/>
            <a:ext cx="615001" cy="24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F3F3F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050" y="146685"/>
            <a:ext cx="18288000" cy="10049822"/>
            <a:chOff x="0" y="0"/>
            <a:chExt cx="25149188" cy="138202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149175" cy="13820173"/>
            </a:xfrm>
            <a:custGeom>
              <a:avLst/>
              <a:gdLst/>
              <a:ahLst/>
              <a:cxnLst/>
              <a:rect r="r" b="b" t="t" l="l"/>
              <a:pathLst>
                <a:path h="13820173" w="25149175">
                  <a:moveTo>
                    <a:pt x="0" y="0"/>
                  </a:moveTo>
                  <a:lnTo>
                    <a:pt x="25149175" y="0"/>
                  </a:lnTo>
                  <a:lnTo>
                    <a:pt x="25149175" y="13820173"/>
                  </a:lnTo>
                  <a:lnTo>
                    <a:pt x="0" y="13820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80" r="0" b="-118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4350" y="146685"/>
            <a:ext cx="17519904" cy="868673"/>
            <a:chOff x="0" y="0"/>
            <a:chExt cx="23359872" cy="1158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Flowchart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471954" y="1004888"/>
            <a:ext cx="141829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4350" y="1200444"/>
            <a:ext cx="1288732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4350" y="146685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Management and Authentication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665985"/>
            <a:ext cx="17519904" cy="868673"/>
            <a:chOff x="0" y="0"/>
            <a:chExt cx="23359872" cy="1158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708283" y="1406986"/>
            <a:ext cx="7023723" cy="7851314"/>
          </a:xfrm>
          <a:custGeom>
            <a:avLst/>
            <a:gdLst/>
            <a:ahLst/>
            <a:cxnLst/>
            <a:rect r="r" b="b" t="t" l="l"/>
            <a:pathLst>
              <a:path h="7851314" w="7023723">
                <a:moveTo>
                  <a:pt x="0" y="0"/>
                </a:moveTo>
                <a:lnTo>
                  <a:pt x="7023724" y="0"/>
                </a:lnTo>
                <a:lnTo>
                  <a:pt x="7023724" y="7851314"/>
                </a:lnTo>
                <a:lnTo>
                  <a:pt x="0" y="7851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7671" y="1829587"/>
            <a:ext cx="9771180" cy="742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92"/>
              </a:lnSpc>
            </a:pPr>
            <a:r>
              <a:rPr lang="en-US" b="true" sz="440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Login Frontend Features</a:t>
            </a:r>
          </a:p>
          <a:p>
            <a:pPr algn="l" marL="573614" indent="-286807" lvl="1">
              <a:lnSpc>
                <a:spcPts val="4277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Role-based login system (User / Admin toggle)</a:t>
            </a:r>
          </a:p>
          <a:p>
            <a:pPr algn="l" marL="573614" indent="-286807" lvl="1">
              <a:lnSpc>
                <a:spcPts val="4277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Secure password validation with show/hide functionality</a:t>
            </a:r>
          </a:p>
          <a:p>
            <a:pPr algn="l" marL="573614" indent="-286807" lvl="1">
              <a:lnSpc>
                <a:spcPts val="4277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Controlled form handling with real-time validation and error feedback</a:t>
            </a:r>
          </a:p>
          <a:p>
            <a:pPr algn="l" marL="573614" indent="-286807" lvl="1">
              <a:lnSpc>
                <a:spcPts val="5313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Navigation using React Router for seamless page transitions</a:t>
            </a:r>
          </a:p>
          <a:p>
            <a:pPr algn="l" marL="573614" indent="-286807" lvl="1">
              <a:lnSpc>
                <a:spcPts val="4277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Session management using LocalStorage</a:t>
            </a:r>
          </a:p>
          <a:p>
            <a:pPr algn="l" marL="573614" indent="-286807" lvl="1">
              <a:lnSpc>
                <a:spcPts val="4277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Modular and reusable components (CustomInput, ToggleSwitch)</a:t>
            </a:r>
          </a:p>
          <a:p>
            <a:pPr algn="l" marL="573614" indent="-286807" lvl="1">
              <a:lnSpc>
                <a:spcPts val="4277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Clean, responsive UI with smooth user interaction</a:t>
            </a:r>
          </a:p>
          <a:p>
            <a:pPr algn="l">
              <a:lnSpc>
                <a:spcPts val="709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4350" y="1052512"/>
            <a:ext cx="1288732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4350" y="146685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Management and Authentication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665985"/>
            <a:ext cx="17519904" cy="868673"/>
            <a:chOff x="0" y="0"/>
            <a:chExt cx="23359872" cy="1158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1960" y="1275436"/>
            <a:ext cx="7063170" cy="570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8"/>
              </a:lnSpc>
            </a:pPr>
            <a:r>
              <a:rPr lang="en-US" sz="34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UserController</a:t>
            </a:r>
          </a:p>
          <a:p>
            <a:pPr algn="l" marL="547158" indent="-273579" lvl="1">
              <a:lnSpc>
                <a:spcPts val="4967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Manages user profile operations</a:t>
            </a:r>
          </a:p>
          <a:p>
            <a:pPr algn="l" marL="547158" indent="-273579" lvl="1">
              <a:lnSpc>
                <a:spcPts val="4967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Update profile (name, email, avatar)</a:t>
            </a:r>
          </a:p>
          <a:p>
            <a:pPr algn="l" marL="547158" indent="-273579" lvl="1">
              <a:lnSpc>
                <a:spcPts val="4967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Delete account functionality</a:t>
            </a:r>
          </a:p>
          <a:p>
            <a:pPr algn="l" marL="547158" indent="-273579" lvl="1">
              <a:lnSpc>
                <a:spcPts val="4967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Fetch user details (single &amp; multiple users)</a:t>
            </a:r>
          </a:p>
          <a:p>
            <a:pPr algn="just">
              <a:lnSpc>
                <a:spcPts val="3550"/>
              </a:lnSpc>
            </a:pPr>
          </a:p>
          <a:p>
            <a:pPr algn="just">
              <a:lnSpc>
                <a:spcPts val="3550"/>
              </a:lnSpc>
            </a:pPr>
          </a:p>
          <a:p>
            <a:pPr algn="just">
              <a:lnSpc>
                <a:spcPts val="3550"/>
              </a:lnSpc>
            </a:pPr>
          </a:p>
          <a:p>
            <a:pPr algn="just">
              <a:lnSpc>
                <a:spcPts val="3550"/>
              </a:lnSpc>
            </a:pPr>
          </a:p>
          <a:p>
            <a:pPr algn="just">
              <a:lnSpc>
                <a:spcPts val="355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433885" y="1304011"/>
            <a:ext cx="6378647" cy="682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0"/>
              </a:lnSpc>
            </a:pPr>
            <a:r>
              <a:rPr lang="en-US" sz="316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Auth Routes</a:t>
            </a:r>
          </a:p>
          <a:p>
            <a:pPr algn="l" marL="507055" indent="-253528" lvl="1">
              <a:lnSpc>
                <a:spcPts val="4485"/>
              </a:lnSpc>
              <a:buFont typeface="Arial"/>
              <a:buChar char="•"/>
            </a:pPr>
            <a:r>
              <a:rPr lang="en-US" sz="234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H</a:t>
            </a:r>
            <a:r>
              <a:rPr lang="en-US" sz="234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andles authentication &amp; security</a:t>
            </a:r>
          </a:p>
          <a:p>
            <a:pPr algn="l" marL="507055" indent="-253528" lvl="1">
              <a:lnSpc>
                <a:spcPts val="4485"/>
              </a:lnSpc>
              <a:buFont typeface="Arial"/>
              <a:buChar char="•"/>
            </a:pPr>
            <a:r>
              <a:rPr lang="en-US" sz="234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Login &amp; Signup functionality</a:t>
            </a:r>
          </a:p>
          <a:p>
            <a:pPr algn="l" marL="507055" indent="-253528" lvl="1">
              <a:lnSpc>
                <a:spcPts val="4485"/>
              </a:lnSpc>
              <a:buFont typeface="Arial"/>
              <a:buChar char="•"/>
            </a:pPr>
            <a:r>
              <a:rPr lang="en-US" sz="234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OTP verification (User &amp; Admin)</a:t>
            </a:r>
          </a:p>
          <a:p>
            <a:pPr algn="l" marL="507055" indent="-253528" lvl="1">
              <a:lnSpc>
                <a:spcPts val="4485"/>
              </a:lnSpc>
              <a:buFont typeface="Arial"/>
              <a:buChar char="•"/>
            </a:pPr>
            <a:r>
              <a:rPr lang="en-US" sz="234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Password reset &amp; forgot password</a:t>
            </a:r>
          </a:p>
          <a:p>
            <a:pPr algn="l" marL="507055" indent="-253528" lvl="1">
              <a:lnSpc>
                <a:spcPts val="4485"/>
              </a:lnSpc>
              <a:buFont typeface="Arial"/>
              <a:buChar char="•"/>
            </a:pPr>
            <a:r>
              <a:rPr lang="en-US" sz="234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Google OAuth integration </a:t>
            </a:r>
          </a:p>
          <a:p>
            <a:pPr algn="just">
              <a:lnSpc>
                <a:spcPts val="5236"/>
              </a:lnSpc>
            </a:pPr>
          </a:p>
          <a:p>
            <a:pPr algn="just">
              <a:lnSpc>
                <a:spcPts val="5236"/>
              </a:lnSpc>
            </a:pPr>
          </a:p>
          <a:p>
            <a:pPr algn="just">
              <a:lnSpc>
                <a:spcPts val="5236"/>
              </a:lnSpc>
            </a:pPr>
          </a:p>
          <a:p>
            <a:pPr algn="just">
              <a:lnSpc>
                <a:spcPts val="5236"/>
              </a:lnSpc>
            </a:pPr>
          </a:p>
          <a:p>
            <a:pPr algn="just">
              <a:lnSpc>
                <a:spcPts val="523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541074" y="4334297"/>
            <a:ext cx="7205853" cy="616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5"/>
              </a:lnSpc>
            </a:pPr>
          </a:p>
          <a:p>
            <a:pPr algn="l">
              <a:lnSpc>
                <a:spcPts val="6320"/>
              </a:lnSpc>
            </a:pPr>
            <a:r>
              <a:rPr lang="en-US" sz="308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Admin Request System</a:t>
            </a:r>
          </a:p>
          <a:p>
            <a:pPr algn="l" marL="522938" indent="-261469" lvl="1">
              <a:lnSpc>
                <a:spcPts val="4965"/>
              </a:lnSpc>
              <a:buFont typeface="Arial"/>
              <a:buChar char="•"/>
            </a:pPr>
            <a:r>
              <a:rPr lang="en-US" sz="242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Users can request admin access with reason</a:t>
            </a:r>
          </a:p>
          <a:p>
            <a:pPr algn="l" marL="522938" indent="-261469" lvl="1">
              <a:lnSpc>
                <a:spcPts val="4965"/>
              </a:lnSpc>
              <a:buFont typeface="Arial"/>
              <a:buChar char="•"/>
            </a:pPr>
            <a:r>
              <a:rPr lang="en-US" sz="242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Admin can view all requests</a:t>
            </a:r>
          </a:p>
          <a:p>
            <a:pPr algn="l" marL="522938" indent="-261469" lvl="1">
              <a:lnSpc>
                <a:spcPts val="4965"/>
              </a:lnSpc>
              <a:buFont typeface="Arial"/>
              <a:buChar char="•"/>
            </a:pPr>
            <a:r>
              <a:rPr lang="en-US" sz="242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Admin can Accept / Reject requests</a:t>
            </a:r>
          </a:p>
          <a:p>
            <a:pPr algn="l" marL="522938" indent="-261469" lvl="1">
              <a:lnSpc>
                <a:spcPts val="4965"/>
              </a:lnSpc>
              <a:buFont typeface="Arial"/>
              <a:buChar char="•"/>
            </a:pPr>
            <a:r>
              <a:rPr lang="en-US" sz="242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Role updated after approval</a:t>
            </a:r>
          </a:p>
          <a:p>
            <a:pPr algn="just">
              <a:lnSpc>
                <a:spcPts val="2941"/>
              </a:lnSpc>
            </a:pPr>
          </a:p>
          <a:p>
            <a:pPr algn="just">
              <a:lnSpc>
                <a:spcPts val="2941"/>
              </a:lnSpc>
            </a:pPr>
          </a:p>
          <a:p>
            <a:pPr algn="just">
              <a:lnSpc>
                <a:spcPts val="2941"/>
              </a:lnSpc>
            </a:pPr>
          </a:p>
          <a:p>
            <a:pPr algn="just">
              <a:lnSpc>
                <a:spcPts val="2941"/>
              </a:lnSpc>
            </a:pPr>
          </a:p>
          <a:p>
            <a:pPr algn="just">
              <a:lnSpc>
                <a:spcPts val="29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0407" y="1114499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160027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  Home Page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618699" y="1049836"/>
            <a:ext cx="6566742" cy="8942602"/>
          </a:xfrm>
          <a:custGeom>
            <a:avLst/>
            <a:gdLst/>
            <a:ahLst/>
            <a:cxnLst/>
            <a:rect r="r" b="b" t="t" l="l"/>
            <a:pathLst>
              <a:path h="8942602" w="6566742">
                <a:moveTo>
                  <a:pt x="0" y="0"/>
                </a:moveTo>
                <a:lnTo>
                  <a:pt x="6566742" y="0"/>
                </a:lnTo>
                <a:lnTo>
                  <a:pt x="6566742" y="8942602"/>
                </a:lnTo>
                <a:lnTo>
                  <a:pt x="0" y="8942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15" r="0" b="-311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0407" y="1748301"/>
            <a:ext cx="9520902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  <a:spcBef>
                <a:spcPct val="0"/>
              </a:spcBef>
            </a:pPr>
            <a:r>
              <a:rPr lang="en-US" b="true" sz="2742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🔹  </a:t>
            </a:r>
            <a:r>
              <a:rPr lang="en-US" b="true" sz="2742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Purpose</a:t>
            </a:r>
          </a:p>
          <a:p>
            <a:pPr algn="l">
              <a:lnSpc>
                <a:spcPts val="3650"/>
              </a:lnSpc>
              <a:spcBef>
                <a:spcPct val="0"/>
              </a:spcBef>
            </a:pPr>
            <a:r>
              <a:rPr lang="en-US" sz="304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Serves as the central landing hub and primary discovery engine for the application, allowing users to browse curated categories, view top picks, and search the entire catalog.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0407" y="4606191"/>
            <a:ext cx="9345790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Key Features</a:t>
            </a:r>
          </a:p>
          <a:p>
            <a:pPr algn="l" marL="647697" indent="-323848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1F1F1F"/>
                </a:solidFill>
                <a:latin typeface="Comic Sans"/>
                <a:ea typeface="Comic Sans"/>
                <a:cs typeface="Comic Sans"/>
                <a:sym typeface="Comic Sans"/>
              </a:rPr>
              <a:t>Advanced Weighted Search</a:t>
            </a:r>
          </a:p>
          <a:p>
            <a:pPr algn="l" marL="647697" indent="-323848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1F1F1F"/>
                </a:solidFill>
                <a:latin typeface="Comic Sans"/>
                <a:ea typeface="Comic Sans"/>
                <a:cs typeface="Comic Sans"/>
                <a:sym typeface="Comic Sans"/>
              </a:rPr>
              <a:t>Seamless right-to-left animated banner carousel </a:t>
            </a:r>
          </a:p>
          <a:p>
            <a:pPr algn="l" marL="647697" indent="-323848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1F1F1F"/>
                </a:solidFill>
                <a:latin typeface="Comic Sans"/>
                <a:ea typeface="Comic Sans"/>
                <a:cs typeface="Comic Sans"/>
                <a:sym typeface="Comic Sans"/>
              </a:rPr>
              <a:t>Curated Content</a:t>
            </a:r>
          </a:p>
          <a:p>
            <a:pPr algn="l" marL="647697" indent="-323848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1F1F1F"/>
                </a:solidFill>
                <a:latin typeface="Comic Sans"/>
                <a:ea typeface="Comic Sans"/>
                <a:cs typeface="Comic Sans"/>
                <a:sym typeface="Comic Sans"/>
              </a:rPr>
              <a:t>Interactive Category Bar</a:t>
            </a:r>
          </a:p>
          <a:p>
            <a:pPr algn="l" marL="647697" indent="-323848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1F1F1F"/>
                </a:solidFill>
                <a:latin typeface="Comic Sans"/>
                <a:ea typeface="Comic Sans"/>
                <a:cs typeface="Comic Sans"/>
                <a:sym typeface="Comic Sans"/>
              </a:rPr>
              <a:t>Role-Aware Header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</a:p>
          <a:p>
            <a:pPr algn="l">
              <a:lnSpc>
                <a:spcPts val="35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10407" y="7860531"/>
            <a:ext cx="9520902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  <a:spcBef>
                <a:spcPct val="0"/>
              </a:spcBef>
            </a:pPr>
            <a:r>
              <a:rPr lang="en-US" b="true" sz="2965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Integrations</a:t>
            </a:r>
          </a:p>
          <a:p>
            <a:pPr algn="l">
              <a:lnSpc>
                <a:spcPts val="3558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Cart Module→ Add items into user’s cart </a:t>
            </a:r>
          </a:p>
          <a:p>
            <a:pPr algn="l">
              <a:lnSpc>
                <a:spcPts val="3558"/>
              </a:lnSpc>
              <a:spcBef>
                <a:spcPct val="0"/>
              </a:spcBef>
            </a:pPr>
            <a:r>
              <a:rPr lang="en-US" sz="2965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Wishlist Module → tap a heart icon to wishlist a product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0407" y="1049836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84048" y="0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 Catalog(category specific and non specific)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58350" y="1028700"/>
            <a:ext cx="8629650" cy="5711202"/>
          </a:xfrm>
          <a:custGeom>
            <a:avLst/>
            <a:gdLst/>
            <a:ahLst/>
            <a:cxnLst/>
            <a:rect r="r" b="b" t="t" l="l"/>
            <a:pathLst>
              <a:path h="5711202" w="8629650">
                <a:moveTo>
                  <a:pt x="0" y="0"/>
                </a:moveTo>
                <a:lnTo>
                  <a:pt x="8629650" y="0"/>
                </a:lnTo>
                <a:lnTo>
                  <a:pt x="8629650" y="5711202"/>
                </a:lnTo>
                <a:lnTo>
                  <a:pt x="0" y="571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6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4048" y="1349305"/>
            <a:ext cx="9074611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</a:t>
            </a:r>
            <a:r>
              <a:rPr lang="en-US" b="true" sz="3099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Purpose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</a:t>
            </a:r>
            <a:r>
              <a:rPr lang="en-US" sz="30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Serves as the comprehensive catalog browsing experience and empower users to explore inventory using shared, advanced controls for filtering, sorting, and pagination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2553" y="4324350"/>
            <a:ext cx="9397602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  <a:spcBef>
                <a:spcPct val="0"/>
              </a:spcBef>
            </a:pPr>
            <a:r>
              <a:rPr lang="en-US" b="true" sz="340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</a:t>
            </a:r>
            <a:r>
              <a:rPr lang="en-US" b="true" sz="340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Key Features</a:t>
            </a:r>
          </a:p>
          <a:p>
            <a:pPr algn="l" marL="756049" indent="-378024" lvl="1">
              <a:lnSpc>
                <a:spcPts val="4202"/>
              </a:lnSpc>
              <a:spcBef>
                <a:spcPct val="0"/>
              </a:spcBef>
              <a:buFont typeface="Arial"/>
              <a:buChar char="•"/>
            </a:pPr>
            <a:r>
              <a:rPr lang="en-US" sz="3501">
                <a:solidFill>
                  <a:srgbClr val="1F1F1F"/>
                </a:solidFill>
                <a:latin typeface="Comic Sans"/>
                <a:ea typeface="Comic Sans"/>
                <a:cs typeface="Comic Sans"/>
                <a:sym typeface="Comic Sans"/>
              </a:rPr>
              <a:t>Universal Weighted Search: </a:t>
            </a:r>
          </a:p>
          <a:p>
            <a:pPr algn="l" marL="756049" indent="-378024" lvl="1">
              <a:lnSpc>
                <a:spcPts val="4202"/>
              </a:lnSpc>
              <a:spcBef>
                <a:spcPct val="0"/>
              </a:spcBef>
              <a:buFont typeface="Arial"/>
              <a:buChar char="•"/>
            </a:pPr>
            <a:r>
              <a:rPr lang="en-US" sz="3501">
                <a:solidFill>
                  <a:srgbClr val="1F1F1F"/>
                </a:solidFill>
                <a:latin typeface="Comic Sans"/>
                <a:ea typeface="Comic Sans"/>
                <a:cs typeface="Comic Sans"/>
                <a:sym typeface="Comic Sans"/>
              </a:rPr>
              <a:t>Dynamic Pagination: </a:t>
            </a:r>
          </a:p>
          <a:p>
            <a:pPr algn="l" marL="756049" indent="-378024" lvl="1">
              <a:lnSpc>
                <a:spcPts val="4202"/>
              </a:lnSpc>
              <a:spcBef>
                <a:spcPct val="0"/>
              </a:spcBef>
              <a:buFont typeface="Arial"/>
              <a:buChar char="•"/>
            </a:pPr>
            <a:r>
              <a:rPr lang="en-US" sz="3501">
                <a:solidFill>
                  <a:srgbClr val="1F1F1F"/>
                </a:solidFill>
                <a:latin typeface="Comic Sans"/>
                <a:ea typeface="Comic Sans"/>
                <a:cs typeface="Comic Sans"/>
                <a:sym typeface="Comic Sans"/>
              </a:rPr>
              <a:t>Advanced and intuitive Sorting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048" y="7397127"/>
            <a:ext cx="9274302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</a:t>
            </a:r>
            <a:r>
              <a:rPr lang="en-US" b="true" sz="2999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Integrations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Cart Module→ Add items into user’s cart 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Wishlist Module → tap a heart icon to wishlist a product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048" y="0"/>
            <a:ext cx="17519904" cy="868673"/>
            <a:chOff x="0" y="0"/>
            <a:chExt cx="23359872" cy="1158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Shared Backend Data Flow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796190" y="991545"/>
            <a:ext cx="1288732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32713" y="1438826"/>
            <a:ext cx="15224237" cy="8615622"/>
          </a:xfrm>
          <a:custGeom>
            <a:avLst/>
            <a:gdLst/>
            <a:ahLst/>
            <a:cxnLst/>
            <a:rect r="r" b="b" t="t" l="l"/>
            <a:pathLst>
              <a:path h="8615622" w="15224237">
                <a:moveTo>
                  <a:pt x="0" y="0"/>
                </a:moveTo>
                <a:lnTo>
                  <a:pt x="15224237" y="0"/>
                </a:lnTo>
                <a:lnTo>
                  <a:pt x="15224237" y="8615621"/>
                </a:lnTo>
                <a:lnTo>
                  <a:pt x="0" y="861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54" r="0" b="-1354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25769" y="1027395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25769" y="167522"/>
            <a:ext cx="17519904" cy="883685"/>
            <a:chOff x="0" y="0"/>
            <a:chExt cx="23359872" cy="11782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78250"/>
            </a:xfrm>
            <a:custGeom>
              <a:avLst/>
              <a:gdLst/>
              <a:ahLst/>
              <a:cxnLst/>
              <a:rect r="r" b="b" t="t" l="l"/>
              <a:pathLst>
                <a:path h="1178250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78250"/>
                  </a:lnTo>
                  <a:lnTo>
                    <a:pt x="0" y="1178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065" r="0" b="-32255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97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b="true" sz="4299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Wishlist Page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135844"/>
            <a:ext cx="18144620" cy="8856733"/>
            <a:chOff x="0" y="0"/>
            <a:chExt cx="24001653" cy="117156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01653" cy="11715666"/>
            </a:xfrm>
            <a:custGeom>
              <a:avLst/>
              <a:gdLst/>
              <a:ahLst/>
              <a:cxnLst/>
              <a:rect r="r" b="b" t="t" l="l"/>
              <a:pathLst>
                <a:path h="11715666" w="24001653">
                  <a:moveTo>
                    <a:pt x="0" y="0"/>
                  </a:moveTo>
                  <a:lnTo>
                    <a:pt x="24001653" y="0"/>
                  </a:lnTo>
                  <a:lnTo>
                    <a:pt x="24001653" y="11715666"/>
                  </a:lnTo>
                  <a:lnTo>
                    <a:pt x="0" y="11715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387" r="0" b="-9738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4001653" cy="11772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4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91229" y="1205830"/>
            <a:ext cx="5988226" cy="8524165"/>
          </a:xfrm>
          <a:custGeom>
            <a:avLst/>
            <a:gdLst/>
            <a:ahLst/>
            <a:cxnLst/>
            <a:rect r="r" b="b" t="t" l="l"/>
            <a:pathLst>
              <a:path h="8524165" w="5988226">
                <a:moveTo>
                  <a:pt x="0" y="0"/>
                </a:moveTo>
                <a:lnTo>
                  <a:pt x="5988226" y="0"/>
                </a:lnTo>
                <a:lnTo>
                  <a:pt x="5988226" y="8524165"/>
                </a:lnTo>
                <a:lnTo>
                  <a:pt x="0" y="85241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749099" y="1205830"/>
            <a:ext cx="8915982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6"/>
              </a:lnSpc>
              <a:spcBef>
                <a:spcPct val="0"/>
              </a:spcBef>
            </a:pPr>
            <a:r>
              <a:rPr lang="en-US" sz="2813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🔹 </a:t>
            </a:r>
            <a:r>
              <a:rPr lang="en-US" b="true" sz="2813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Purpose</a:t>
            </a:r>
          </a:p>
          <a:p>
            <a:pPr algn="just">
              <a:lnSpc>
                <a:spcPts val="3376"/>
              </a:lnSpc>
              <a:spcBef>
                <a:spcPct val="0"/>
              </a:spcBef>
            </a:pPr>
            <a:r>
              <a:rPr lang="en-US" sz="2813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Saves and manages items selected by users for future consideration, </a:t>
            </a:r>
          </a:p>
          <a:p>
            <a:pPr algn="just">
              <a:lnSpc>
                <a:spcPts val="3376"/>
              </a:lnSpc>
              <a:spcBef>
                <a:spcPct val="0"/>
              </a:spcBef>
            </a:pPr>
            <a:r>
              <a:rPr lang="en-US" sz="2813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acting as a bridge between Products and the Cart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53279" y="3281362"/>
            <a:ext cx="8115300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Key Features</a:t>
            </a:r>
          </a:p>
          <a:p>
            <a:pPr algn="l" marL="538085" indent="-269042" lvl="1">
              <a:lnSpc>
                <a:spcPts val="2990"/>
              </a:lnSpc>
              <a:spcBef>
                <a:spcPct val="0"/>
              </a:spcBef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Add items directly from Homepage and Product pages</a:t>
            </a:r>
          </a:p>
          <a:p>
            <a:pPr algn="l" marL="538085" indent="-269042" lvl="1">
              <a:lnSpc>
                <a:spcPts val="2990"/>
              </a:lnSpc>
              <a:spcBef>
                <a:spcPct val="0"/>
              </a:spcBef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View a persistent list of saved items for later consideration</a:t>
            </a:r>
          </a:p>
          <a:p>
            <a:pPr algn="l" marL="538085" indent="-269042" lvl="1">
              <a:lnSpc>
                <a:spcPts val="2990"/>
              </a:lnSpc>
              <a:spcBef>
                <a:spcPct val="0"/>
              </a:spcBef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Move individual items to Cart with a single click</a:t>
            </a:r>
          </a:p>
          <a:p>
            <a:pPr algn="l" marL="538085" indent="-269042" lvl="1">
              <a:lnSpc>
                <a:spcPts val="2990"/>
              </a:lnSpc>
              <a:spcBef>
                <a:spcPct val="0"/>
              </a:spcBef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Remove individual items from the list</a:t>
            </a:r>
          </a:p>
          <a:p>
            <a:pPr algn="l" marL="538085" indent="-269042" lvl="1">
              <a:lnSpc>
                <a:spcPts val="2990"/>
              </a:lnSpc>
              <a:spcBef>
                <a:spcPct val="0"/>
              </a:spcBef>
              <a:buFont typeface="Arial"/>
              <a:buChar char="•"/>
            </a:pPr>
            <a:r>
              <a:rPr lang="en-US" sz="249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Real-time UI updates upon item addition or removal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957459" y="7157045"/>
            <a:ext cx="7906940" cy="2686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8"/>
              </a:lnSpc>
              <a:spcBef>
                <a:spcPct val="0"/>
              </a:spcBef>
            </a:pPr>
            <a:r>
              <a:rPr lang="en-US" b="true" sz="2523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 Flow</a:t>
            </a:r>
          </a:p>
          <a:p>
            <a:pPr algn="l">
              <a:lnSpc>
                <a:spcPts val="2703"/>
              </a:lnSpc>
              <a:spcBef>
                <a:spcPct val="0"/>
              </a:spcBef>
            </a:pPr>
            <a:r>
              <a:rPr lang="en-US" b="true" sz="2253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Inbound Flows:</a:t>
            </a:r>
          </a:p>
          <a:p>
            <a:pPr algn="l">
              <a:lnSpc>
                <a:spcPts val="2703"/>
              </a:lnSpc>
              <a:spcBef>
                <a:spcPct val="0"/>
              </a:spcBef>
            </a:pPr>
            <a:r>
              <a:rPr lang="en-US" sz="2253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Homepage ➔ Product Card ➔ Add to Wishlist </a:t>
            </a:r>
          </a:p>
          <a:p>
            <a:pPr algn="l">
              <a:lnSpc>
                <a:spcPts val="2703"/>
              </a:lnSpc>
              <a:spcBef>
                <a:spcPct val="0"/>
              </a:spcBef>
            </a:pPr>
            <a:r>
              <a:rPr lang="en-US" sz="2253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Homepage ➔ All Products Page ➔ Product Card ➔Add to Wishlist         </a:t>
            </a:r>
          </a:p>
          <a:p>
            <a:pPr algn="l">
              <a:lnSpc>
                <a:spcPts val="2703"/>
              </a:lnSpc>
              <a:spcBef>
                <a:spcPct val="0"/>
              </a:spcBef>
            </a:pPr>
            <a:r>
              <a:rPr lang="en-US" sz="2253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🔹</a:t>
            </a:r>
            <a:r>
              <a:rPr lang="en-US" b="true" sz="2253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Outbound Flows:</a:t>
            </a:r>
          </a:p>
          <a:p>
            <a:pPr algn="l">
              <a:lnSpc>
                <a:spcPts val="2703"/>
              </a:lnSpc>
              <a:spcBef>
                <a:spcPct val="0"/>
              </a:spcBef>
            </a:pPr>
            <a:r>
              <a:rPr lang="en-US" sz="2253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Wishlist Page ➔ Select Item ➔ Move to Cart ➔ Cart Page</a:t>
            </a:r>
          </a:p>
          <a:p>
            <a:pPr algn="l">
              <a:lnSpc>
                <a:spcPts val="23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0407" y="1049836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4350" y="146685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Category Management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4350" y="1356583"/>
            <a:ext cx="7876516" cy="3786917"/>
            <a:chOff x="0" y="0"/>
            <a:chExt cx="10452709" cy="50255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52708" cy="5025517"/>
            </a:xfrm>
            <a:custGeom>
              <a:avLst/>
              <a:gdLst/>
              <a:ahLst/>
              <a:cxnLst/>
              <a:rect r="r" b="b" t="t" l="l"/>
              <a:pathLst>
                <a:path h="5025517" w="10452708">
                  <a:moveTo>
                    <a:pt x="0" y="0"/>
                  </a:moveTo>
                  <a:lnTo>
                    <a:pt x="10452708" y="0"/>
                  </a:lnTo>
                  <a:lnTo>
                    <a:pt x="10452708" y="5025517"/>
                  </a:lnTo>
                  <a:lnTo>
                    <a:pt x="0" y="5025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073" r="-123481" b="93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452709" cy="507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2"/>
                </a:lnSpc>
              </a:pPr>
              <a:r>
                <a:rPr lang="en-US" sz="294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🔹 Key Features:</a:t>
              </a:r>
            </a:p>
            <a:p>
              <a:pPr algn="l" marL="634746" indent="-317373" lvl="1">
                <a:lnSpc>
                  <a:spcPts val="3528"/>
                </a:lnSpc>
                <a:buFont typeface="Arial"/>
                <a:buChar char="•"/>
              </a:pP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CRUD operations via REST APIs (Node.js, Express, Sequelize, MySQL)</a:t>
              </a:r>
            </a:p>
            <a:p>
              <a:pPr algn="l" marL="634746" indent="-317373" lvl="1">
                <a:lnSpc>
                  <a:spcPts val="3528"/>
                </a:lnSpc>
                <a:buFont typeface="Arial"/>
                <a:buChar char="•"/>
              </a:pP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Search with debouncing, sorting, and pagination for performance</a:t>
              </a:r>
            </a:p>
            <a:p>
              <a:pPr algn="l" marL="634746" indent="-317373" lvl="1">
                <a:lnSpc>
                  <a:spcPts val="3528"/>
                </a:lnSpc>
                <a:buFont typeface="Arial"/>
                <a:buChar char="•"/>
              </a:pP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Validation &amp; error handling using Joi and centralized middleware</a:t>
              </a:r>
            </a:p>
            <a:p>
              <a:pPr algn="l">
                <a:lnSpc>
                  <a:spcPts val="39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4350" y="4791658"/>
            <a:ext cx="8280358" cy="5573195"/>
            <a:chOff x="0" y="0"/>
            <a:chExt cx="13686913" cy="92121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86913" cy="9212146"/>
            </a:xfrm>
            <a:custGeom>
              <a:avLst/>
              <a:gdLst/>
              <a:ahLst/>
              <a:cxnLst/>
              <a:rect r="r" b="b" t="t" l="l"/>
              <a:pathLst>
                <a:path h="9212146" w="13686913">
                  <a:moveTo>
                    <a:pt x="0" y="0"/>
                  </a:moveTo>
                  <a:lnTo>
                    <a:pt x="13686913" y="0"/>
                  </a:lnTo>
                  <a:lnTo>
                    <a:pt x="13686913" y="9212146"/>
                  </a:lnTo>
                  <a:lnTo>
                    <a:pt x="0" y="9212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73" r="-70673" b="4595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3686913" cy="9231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8"/>
                </a:lnSpc>
              </a:pPr>
              <a:r>
                <a:rPr lang="en-US" sz="294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🔹 Frontend:</a:t>
              </a:r>
            </a:p>
            <a:p>
              <a:pPr algn="l" marL="634746" indent="-317373" lvl="1">
                <a:lnSpc>
                  <a:spcPts val="3528"/>
                </a:lnSpc>
                <a:buFont typeface="Arial"/>
                <a:buChar char="•"/>
              </a:pP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Buil</a:t>
              </a: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 with React (useState, useEffect, useMemo)</a:t>
              </a:r>
            </a:p>
            <a:p>
              <a:pPr algn="l" marL="634746" indent="-317373" lvl="1">
                <a:lnSpc>
                  <a:spcPts val="3528"/>
                </a:lnSpc>
                <a:buFont typeface="Arial"/>
                <a:buChar char="•"/>
              </a:pP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Mo</a:t>
              </a: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dular components (Table, Filters, Modal)</a:t>
              </a:r>
            </a:p>
            <a:p>
              <a:pPr algn="l" marL="634746" indent="-317373" lvl="1">
                <a:lnSpc>
                  <a:spcPts val="3528"/>
                </a:lnSpc>
                <a:buFont typeface="Arial"/>
                <a:buChar char="•"/>
              </a:pP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Ax</a:t>
              </a: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ios service layer for API integration</a:t>
              </a:r>
            </a:p>
            <a:p>
              <a:pPr algn="l">
                <a:lnSpc>
                  <a:spcPts val="3528"/>
                </a:lnSpc>
              </a:pPr>
            </a:p>
            <a:p>
              <a:pPr algn="l">
                <a:lnSpc>
                  <a:spcPts val="3528"/>
                </a:lnSpc>
              </a:pPr>
              <a:r>
                <a:rPr lang="en-US" sz="294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🔹 </a:t>
              </a:r>
              <a:r>
                <a:rPr lang="en-US" sz="294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Optim</a:t>
              </a:r>
              <a:r>
                <a:rPr lang="en-US" sz="294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ization &amp; UX:</a:t>
              </a:r>
            </a:p>
            <a:p>
              <a:pPr algn="l" marL="634746" indent="-317373" lvl="1">
                <a:lnSpc>
                  <a:spcPts val="3528"/>
                </a:lnSpc>
                <a:buFont typeface="Arial"/>
                <a:buChar char="•"/>
              </a:pP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Optimiz</a:t>
              </a: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ed rendering using useMemo</a:t>
              </a:r>
            </a:p>
            <a:p>
              <a:pPr algn="l" marL="634746" indent="-317373" lvl="1">
                <a:lnSpc>
                  <a:spcPts val="3528"/>
                </a:lnSpc>
                <a:buFont typeface="Arial"/>
                <a:buChar char="•"/>
              </a:pP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Add</a:t>
              </a:r>
              <a:r>
                <a:rPr lang="en-US" sz="294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ed loading states, toast notifications, and empty states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9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71621" y="1627806"/>
            <a:ext cx="7975351" cy="6327703"/>
            <a:chOff x="0" y="0"/>
            <a:chExt cx="11984446" cy="95085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84446" cy="9508553"/>
            </a:xfrm>
            <a:custGeom>
              <a:avLst/>
              <a:gdLst/>
              <a:ahLst/>
              <a:cxnLst/>
              <a:rect r="r" b="b" t="t" l="l"/>
              <a:pathLst>
                <a:path h="9508553" w="11984446">
                  <a:moveTo>
                    <a:pt x="0" y="0"/>
                  </a:moveTo>
                  <a:lnTo>
                    <a:pt x="11984446" y="0"/>
                  </a:lnTo>
                  <a:lnTo>
                    <a:pt x="11984446" y="9508553"/>
                  </a:lnTo>
                  <a:lnTo>
                    <a:pt x="0" y="95085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78" r="-94918" b="47639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984446" cy="953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React Category Page (Admin UI)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   ↓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Category Service (Axios – getAll, create, update, delete)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   ↓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Express Category Routes (/api/v1/category)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   ↓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Category Controller (handles request &amp; response)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   ↓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Category Service Layer (business logic + validations)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   ↓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Sequelize Category Model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   ↓</a:t>
              </a:r>
            </a:p>
            <a:p>
              <a:pPr algn="ctr">
                <a:lnSpc>
                  <a:spcPts val="3302"/>
                </a:lnSpc>
              </a:pPr>
              <a:r>
                <a:rPr lang="en-US" sz="2540" i="true">
                  <a:solidFill>
                    <a:srgbClr val="000000"/>
                  </a:solidFill>
                  <a:latin typeface="Comic Sans Italics"/>
                  <a:ea typeface="Comic Sans Italics"/>
                  <a:cs typeface="Comic Sans Italics"/>
                  <a:sym typeface="Comic Sans Italics"/>
                </a:rPr>
                <a:t>MySQL (categories table)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0407" y="1049836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4350" y="146685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Inventory Management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0407" y="1299336"/>
            <a:ext cx="9872514" cy="3830501"/>
            <a:chOff x="0" y="0"/>
            <a:chExt cx="13101542" cy="50833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01543" cy="5083356"/>
            </a:xfrm>
            <a:custGeom>
              <a:avLst/>
              <a:gdLst/>
              <a:ahLst/>
              <a:cxnLst/>
              <a:rect r="r" b="b" t="t" l="l"/>
              <a:pathLst>
                <a:path h="5083356" w="13101543">
                  <a:moveTo>
                    <a:pt x="0" y="0"/>
                  </a:moveTo>
                  <a:lnTo>
                    <a:pt x="13101543" y="0"/>
                  </a:lnTo>
                  <a:lnTo>
                    <a:pt x="13101543" y="5083356"/>
                  </a:lnTo>
                  <a:lnTo>
                    <a:pt x="0" y="50833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40" r="-78298" b="2058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101542" cy="51309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2"/>
                </a:lnSpc>
              </a:pPr>
              <a:r>
                <a:rPr lang="en-US" sz="294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Features:</a:t>
              </a:r>
            </a:p>
            <a:p>
              <a:pPr algn="l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Full </a:t>
              </a: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CRUD via REST APIs (Node.js, Express, Sequelize, MySQL)</a:t>
              </a:r>
            </a:p>
            <a:p>
              <a:pPr algn="l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Search, filters, sorting &amp; server-side pagination</a:t>
              </a:r>
            </a:p>
            <a:p>
              <a:pPr algn="l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Real-time stock quantity with Low / Medium / High badges</a:t>
              </a:r>
            </a:p>
            <a:p>
              <a:pPr algn="l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Image upload via Multer + Cloudinary (returns secure URL)</a:t>
              </a:r>
            </a:p>
            <a:p>
              <a:pPr algn="l">
                <a:lnSpc>
                  <a:spcPts val="3528"/>
                </a:lnSpc>
              </a:pPr>
            </a:p>
            <a:p>
              <a:pPr algn="l">
                <a:lnSpc>
                  <a:spcPts val="39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0407" y="4229533"/>
            <a:ext cx="9239972" cy="6468545"/>
            <a:chOff x="0" y="0"/>
            <a:chExt cx="15273095" cy="106921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73096" cy="10692104"/>
            </a:xfrm>
            <a:custGeom>
              <a:avLst/>
              <a:gdLst/>
              <a:ahLst/>
              <a:cxnLst/>
              <a:rect r="r" b="b" t="t" l="l"/>
              <a:pathLst>
                <a:path h="10692104" w="15273096">
                  <a:moveTo>
                    <a:pt x="0" y="0"/>
                  </a:moveTo>
                  <a:lnTo>
                    <a:pt x="15273096" y="0"/>
                  </a:lnTo>
                  <a:lnTo>
                    <a:pt x="15273096" y="10692104"/>
                  </a:lnTo>
                  <a:lnTo>
                    <a:pt x="0" y="10692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76" r="-52947" b="5343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5273095" cy="10711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8"/>
                </a:lnSpc>
              </a:pPr>
              <a:r>
                <a:rPr lang="en-US" sz="294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Frontend:</a:t>
              </a:r>
            </a:p>
            <a:p>
              <a:pPr algn="l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Reac</a:t>
              </a: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 with useState, useEffect, useCallback, useRef</a:t>
              </a:r>
            </a:p>
            <a:p>
              <a:pPr algn="l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Split into InventoryFilters, InventoryTable, InventoryModal</a:t>
              </a:r>
            </a:p>
            <a:p>
              <a:pPr algn="l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Axios service layer for all API calls (inventoryService.js)</a:t>
              </a:r>
            </a:p>
            <a:p>
              <a:pPr algn="l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Instant image preview before upload using createObjectURL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3528"/>
                </a:lnSpc>
              </a:pPr>
              <a:r>
                <a:rPr lang="en-US" sz="294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Optim</a:t>
              </a:r>
              <a:r>
                <a:rPr lang="en-US" sz="294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ization &amp; UX:</a:t>
              </a:r>
            </a:p>
            <a:p>
              <a:pPr algn="l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Debounced search (400ms), Apply Filters button for rest</a:t>
              </a:r>
            </a:p>
            <a:p>
              <a:pPr algn="l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Skeleton loaders, empty states &amp; inline error banners</a:t>
              </a:r>
            </a:p>
            <a:p>
              <a:pPr algn="l">
                <a:lnSpc>
                  <a:spcPts val="3528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9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66277" y="506478"/>
            <a:ext cx="7967977" cy="963673"/>
            <a:chOff x="0" y="0"/>
            <a:chExt cx="10623969" cy="12848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8509" y="8509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35587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240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624058">
                  <a:moveTo>
                    <a:pt x="8509" y="0"/>
                  </a:moveTo>
                  <a:lnTo>
                    <a:pt x="10615549" y="0"/>
                  </a:lnTo>
                  <a:cubicBezTo>
                    <a:pt x="10620248" y="0"/>
                    <a:pt x="10624058" y="3810"/>
                    <a:pt x="10624058" y="8509"/>
                  </a:cubicBezTo>
                  <a:lnTo>
                    <a:pt x="10624058" y="1276477"/>
                  </a:lnTo>
                  <a:cubicBezTo>
                    <a:pt x="10624058" y="1281176"/>
                    <a:pt x="10620248" y="1284986"/>
                    <a:pt x="106155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615549" y="1267968"/>
                  </a:lnTo>
                  <a:lnTo>
                    <a:pt x="10615549" y="1276477"/>
                  </a:lnTo>
                  <a:lnTo>
                    <a:pt x="10607040" y="1276477"/>
                  </a:lnTo>
                  <a:lnTo>
                    <a:pt x="10607040" y="8509"/>
                  </a:lnTo>
                  <a:lnTo>
                    <a:pt x="10615549" y="8509"/>
                  </a:lnTo>
                  <a:lnTo>
                    <a:pt x="10615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D8E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072630" y="512831"/>
            <a:ext cx="7955280" cy="950976"/>
            <a:chOff x="0" y="0"/>
            <a:chExt cx="10607040" cy="12679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60704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Inventory Page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UI — InventoryFilters, InventoryTable, InventoryModal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51230" y="1937766"/>
            <a:ext cx="38100" cy="403860"/>
            <a:chOff x="0" y="0"/>
            <a:chExt cx="50800" cy="538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00"/>
              <a:ext cx="50800" cy="487680"/>
            </a:xfrm>
            <a:custGeom>
              <a:avLst/>
              <a:gdLst/>
              <a:ahLst/>
              <a:cxnLst/>
              <a:rect r="r" b="b" t="t" l="l"/>
              <a:pathLst>
                <a:path h="487680" w="50800">
                  <a:moveTo>
                    <a:pt x="50800" y="0"/>
                  </a:moveTo>
                  <a:lnTo>
                    <a:pt x="5080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8C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66277" y="1859790"/>
            <a:ext cx="7967977" cy="963673"/>
            <a:chOff x="0" y="0"/>
            <a:chExt cx="10623969" cy="12848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8509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2F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240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624058">
                  <a:moveTo>
                    <a:pt x="8509" y="0"/>
                  </a:moveTo>
                  <a:lnTo>
                    <a:pt x="10615549" y="0"/>
                  </a:lnTo>
                  <a:cubicBezTo>
                    <a:pt x="10620248" y="0"/>
                    <a:pt x="10624058" y="3810"/>
                    <a:pt x="10624058" y="8509"/>
                  </a:cubicBezTo>
                  <a:lnTo>
                    <a:pt x="10624058" y="1276477"/>
                  </a:lnTo>
                  <a:cubicBezTo>
                    <a:pt x="10624058" y="1281176"/>
                    <a:pt x="10620248" y="1284986"/>
                    <a:pt x="106155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615549" y="1267968"/>
                  </a:lnTo>
                  <a:lnTo>
                    <a:pt x="10615549" y="1276477"/>
                  </a:lnTo>
                  <a:lnTo>
                    <a:pt x="10607040" y="1276477"/>
                  </a:lnTo>
                  <a:lnTo>
                    <a:pt x="10607040" y="8509"/>
                  </a:lnTo>
                  <a:lnTo>
                    <a:pt x="10615549" y="8509"/>
                  </a:lnTo>
                  <a:lnTo>
                    <a:pt x="10615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D8E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72630" y="1866143"/>
            <a:ext cx="7955280" cy="950976"/>
            <a:chOff x="0" y="0"/>
            <a:chExt cx="10607040" cy="1267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99" r="0" b="-1129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60704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3A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inventoryService.js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5A7A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Axios — getProducts, createProduct, updateProduct, deleteProduct, uploadImage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51230" y="3291078"/>
            <a:ext cx="38100" cy="403860"/>
            <a:chOff x="0" y="0"/>
            <a:chExt cx="50800" cy="538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25400"/>
              <a:ext cx="50800" cy="487680"/>
            </a:xfrm>
            <a:custGeom>
              <a:avLst/>
              <a:gdLst/>
              <a:ahLst/>
              <a:cxnLst/>
              <a:rect r="r" b="b" t="t" l="l"/>
              <a:pathLst>
                <a:path h="487680" w="50800">
                  <a:moveTo>
                    <a:pt x="50800" y="0"/>
                  </a:moveTo>
                  <a:lnTo>
                    <a:pt x="5080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8C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66277" y="3213102"/>
            <a:ext cx="7967977" cy="963673"/>
            <a:chOff x="0" y="0"/>
            <a:chExt cx="10623969" cy="12848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509" y="8509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2F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240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624058">
                  <a:moveTo>
                    <a:pt x="8509" y="0"/>
                  </a:moveTo>
                  <a:lnTo>
                    <a:pt x="10615549" y="0"/>
                  </a:lnTo>
                  <a:cubicBezTo>
                    <a:pt x="10620248" y="0"/>
                    <a:pt x="10624058" y="3810"/>
                    <a:pt x="10624058" y="8509"/>
                  </a:cubicBezTo>
                  <a:lnTo>
                    <a:pt x="10624058" y="1276477"/>
                  </a:lnTo>
                  <a:cubicBezTo>
                    <a:pt x="10624058" y="1281176"/>
                    <a:pt x="10620248" y="1284986"/>
                    <a:pt x="106155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615549" y="1267968"/>
                  </a:lnTo>
                  <a:lnTo>
                    <a:pt x="10615549" y="1276477"/>
                  </a:lnTo>
                  <a:lnTo>
                    <a:pt x="10607040" y="1276477"/>
                  </a:lnTo>
                  <a:lnTo>
                    <a:pt x="10607040" y="8509"/>
                  </a:lnTo>
                  <a:lnTo>
                    <a:pt x="10615549" y="8509"/>
                  </a:lnTo>
                  <a:lnTo>
                    <a:pt x="10615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D8E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72630" y="3219455"/>
            <a:ext cx="7955280" cy="950976"/>
            <a:chOff x="0" y="0"/>
            <a:chExt cx="10607040" cy="12679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99" r="0" b="-11299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60704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3A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Express Inventory Routes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5A7A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/api/v1/inventory  •  /api/v1/inventory/uploadImage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651230" y="4644390"/>
            <a:ext cx="38100" cy="403860"/>
            <a:chOff x="0" y="0"/>
            <a:chExt cx="50800" cy="538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25400"/>
              <a:ext cx="50800" cy="487680"/>
            </a:xfrm>
            <a:custGeom>
              <a:avLst/>
              <a:gdLst/>
              <a:ahLst/>
              <a:cxnLst/>
              <a:rect r="r" b="b" t="t" l="l"/>
              <a:pathLst>
                <a:path h="487680" w="50800">
                  <a:moveTo>
                    <a:pt x="50800" y="0"/>
                  </a:moveTo>
                  <a:lnTo>
                    <a:pt x="5080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8C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66277" y="4566414"/>
            <a:ext cx="7967977" cy="963673"/>
            <a:chOff x="0" y="0"/>
            <a:chExt cx="10623969" cy="12848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2F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240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624058">
                  <a:moveTo>
                    <a:pt x="8509" y="0"/>
                  </a:moveTo>
                  <a:lnTo>
                    <a:pt x="10615549" y="0"/>
                  </a:lnTo>
                  <a:cubicBezTo>
                    <a:pt x="10620248" y="0"/>
                    <a:pt x="10624058" y="3810"/>
                    <a:pt x="10624058" y="8509"/>
                  </a:cubicBezTo>
                  <a:lnTo>
                    <a:pt x="10624058" y="1276477"/>
                  </a:lnTo>
                  <a:cubicBezTo>
                    <a:pt x="10624058" y="1281176"/>
                    <a:pt x="10620248" y="1284986"/>
                    <a:pt x="106155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615549" y="1267968"/>
                  </a:lnTo>
                  <a:lnTo>
                    <a:pt x="10615549" y="1276477"/>
                  </a:lnTo>
                  <a:lnTo>
                    <a:pt x="10607040" y="1276477"/>
                  </a:lnTo>
                  <a:lnTo>
                    <a:pt x="10607040" y="8509"/>
                  </a:lnTo>
                  <a:lnTo>
                    <a:pt x="10615549" y="8509"/>
                  </a:lnTo>
                  <a:lnTo>
                    <a:pt x="10615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D8E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072630" y="4572767"/>
            <a:ext cx="7955280" cy="950976"/>
            <a:chOff x="0" y="0"/>
            <a:chExt cx="10607040" cy="12679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99" r="0" b="-11299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60704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3A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 Controller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5A7A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Handles request &amp; response, calls service layer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651230" y="5997702"/>
            <a:ext cx="38100" cy="403860"/>
            <a:chOff x="0" y="0"/>
            <a:chExt cx="50800" cy="538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25400"/>
              <a:ext cx="50800" cy="487680"/>
            </a:xfrm>
            <a:custGeom>
              <a:avLst/>
              <a:gdLst/>
              <a:ahLst/>
              <a:cxnLst/>
              <a:rect r="r" b="b" t="t" l="l"/>
              <a:pathLst>
                <a:path h="487680" w="50800">
                  <a:moveTo>
                    <a:pt x="50800" y="0"/>
                  </a:moveTo>
                  <a:lnTo>
                    <a:pt x="5080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8C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66277" y="5919726"/>
            <a:ext cx="7967977" cy="963673"/>
            <a:chOff x="0" y="0"/>
            <a:chExt cx="10623969" cy="12848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3E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240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624058">
                  <a:moveTo>
                    <a:pt x="8509" y="0"/>
                  </a:moveTo>
                  <a:lnTo>
                    <a:pt x="10615549" y="0"/>
                  </a:lnTo>
                  <a:cubicBezTo>
                    <a:pt x="10620248" y="0"/>
                    <a:pt x="10624058" y="3810"/>
                    <a:pt x="10624058" y="8509"/>
                  </a:cubicBezTo>
                  <a:lnTo>
                    <a:pt x="10624058" y="1276477"/>
                  </a:lnTo>
                  <a:cubicBezTo>
                    <a:pt x="10624058" y="1281176"/>
                    <a:pt x="10620248" y="1284986"/>
                    <a:pt x="106155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615549" y="1267968"/>
                  </a:lnTo>
                  <a:lnTo>
                    <a:pt x="10615549" y="1276477"/>
                  </a:lnTo>
                  <a:lnTo>
                    <a:pt x="10607040" y="1276477"/>
                  </a:lnTo>
                  <a:lnTo>
                    <a:pt x="10607040" y="8509"/>
                  </a:lnTo>
                  <a:lnTo>
                    <a:pt x="10615549" y="8509"/>
                  </a:lnTo>
                  <a:lnTo>
                    <a:pt x="10615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D8E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072630" y="5926079"/>
            <a:ext cx="7955280" cy="950976"/>
            <a:chOff x="0" y="0"/>
            <a:chExt cx="10607040" cy="12679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99" r="0" b="-11299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60704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7A4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Multer + Cloudinary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5A7A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Parses file buffer → streams to Cloudinary → returns secure_url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651230" y="7351014"/>
            <a:ext cx="38100" cy="403860"/>
            <a:chOff x="0" y="0"/>
            <a:chExt cx="50800" cy="538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25400"/>
              <a:ext cx="50800" cy="487680"/>
            </a:xfrm>
            <a:custGeom>
              <a:avLst/>
              <a:gdLst/>
              <a:ahLst/>
              <a:cxnLst/>
              <a:rect r="r" b="b" t="t" l="l"/>
              <a:pathLst>
                <a:path h="487680" w="50800">
                  <a:moveTo>
                    <a:pt x="50800" y="0"/>
                  </a:moveTo>
                  <a:lnTo>
                    <a:pt x="5080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8C4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066277" y="7273038"/>
            <a:ext cx="7967977" cy="963673"/>
            <a:chOff x="0" y="0"/>
            <a:chExt cx="10623969" cy="128489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8509" y="8509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2F8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240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624058">
                  <a:moveTo>
                    <a:pt x="8509" y="0"/>
                  </a:moveTo>
                  <a:lnTo>
                    <a:pt x="10615549" y="0"/>
                  </a:lnTo>
                  <a:cubicBezTo>
                    <a:pt x="10620248" y="0"/>
                    <a:pt x="10624058" y="3810"/>
                    <a:pt x="10624058" y="8509"/>
                  </a:cubicBezTo>
                  <a:lnTo>
                    <a:pt x="10624058" y="1276477"/>
                  </a:lnTo>
                  <a:cubicBezTo>
                    <a:pt x="10624058" y="1281176"/>
                    <a:pt x="10620248" y="1284986"/>
                    <a:pt x="106155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615549" y="1267968"/>
                  </a:lnTo>
                  <a:lnTo>
                    <a:pt x="10615549" y="1276477"/>
                  </a:lnTo>
                  <a:lnTo>
                    <a:pt x="10607040" y="1276477"/>
                  </a:lnTo>
                  <a:lnTo>
                    <a:pt x="10607040" y="8509"/>
                  </a:lnTo>
                  <a:lnTo>
                    <a:pt x="10615549" y="8509"/>
                  </a:lnTo>
                  <a:lnTo>
                    <a:pt x="10615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D8E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072630" y="7279391"/>
            <a:ext cx="7955280" cy="950976"/>
            <a:chOff x="0" y="0"/>
            <a:chExt cx="10607040" cy="12679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99" r="0" b="-11299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60704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3A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Sequelize Product + Inventory Models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5A7A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Products &amp; Inventory tables — AdminAPIFeatures for filtering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651230" y="8704326"/>
            <a:ext cx="38100" cy="403860"/>
            <a:chOff x="0" y="0"/>
            <a:chExt cx="50800" cy="5384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25400"/>
              <a:ext cx="50800" cy="487680"/>
            </a:xfrm>
            <a:custGeom>
              <a:avLst/>
              <a:gdLst/>
              <a:ahLst/>
              <a:cxnLst/>
              <a:rect r="r" b="b" t="t" l="l"/>
              <a:pathLst>
                <a:path h="487680" w="50800">
                  <a:moveTo>
                    <a:pt x="50800" y="0"/>
                  </a:moveTo>
                  <a:lnTo>
                    <a:pt x="5080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8C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066277" y="8626350"/>
            <a:ext cx="7967977" cy="963673"/>
            <a:chOff x="0" y="0"/>
            <a:chExt cx="10623969" cy="128489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8509" y="8509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A3A52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6240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624058">
                  <a:moveTo>
                    <a:pt x="8509" y="0"/>
                  </a:moveTo>
                  <a:lnTo>
                    <a:pt x="10615549" y="0"/>
                  </a:lnTo>
                  <a:cubicBezTo>
                    <a:pt x="10620248" y="0"/>
                    <a:pt x="10624058" y="3810"/>
                    <a:pt x="10624058" y="8509"/>
                  </a:cubicBezTo>
                  <a:lnTo>
                    <a:pt x="10624058" y="1276477"/>
                  </a:lnTo>
                  <a:cubicBezTo>
                    <a:pt x="10624058" y="1281176"/>
                    <a:pt x="10620248" y="1284986"/>
                    <a:pt x="106155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615549" y="1267968"/>
                  </a:lnTo>
                  <a:lnTo>
                    <a:pt x="10615549" y="1276477"/>
                  </a:lnTo>
                  <a:lnTo>
                    <a:pt x="10607040" y="1276477"/>
                  </a:lnTo>
                  <a:lnTo>
                    <a:pt x="10607040" y="8509"/>
                  </a:lnTo>
                  <a:lnTo>
                    <a:pt x="10615549" y="8509"/>
                  </a:lnTo>
                  <a:lnTo>
                    <a:pt x="10615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D8E4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072630" y="8632703"/>
            <a:ext cx="7955280" cy="950976"/>
            <a:chOff x="0" y="0"/>
            <a:chExt cx="10607040" cy="12679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99" r="0" b="-11299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060704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Database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products table  •  inventory table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0407" y="1049836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4350" y="146685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Cart Interface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574398" y="73343"/>
            <a:ext cx="4336508" cy="10140315"/>
          </a:xfrm>
          <a:custGeom>
            <a:avLst/>
            <a:gdLst/>
            <a:ahLst/>
            <a:cxnLst/>
            <a:rect r="r" b="b" t="t" l="l"/>
            <a:pathLst>
              <a:path h="10140315" w="4336508">
                <a:moveTo>
                  <a:pt x="0" y="0"/>
                </a:moveTo>
                <a:lnTo>
                  <a:pt x="4336508" y="0"/>
                </a:lnTo>
                <a:lnTo>
                  <a:pt x="4336508" y="10140315"/>
                </a:lnTo>
                <a:lnTo>
                  <a:pt x="0" y="10140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02" r="0" b="-10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6401" y="1235276"/>
            <a:ext cx="900759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Purpose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Manages items selected by users before purchase,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  acting as a bridge between Products, Wishlist, and Orders.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401" y="2718791"/>
            <a:ext cx="9789468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Key Features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Add items from Products and Wishlist.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Update quantity (increase/decrease) with inventory validation.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Remove individual items or empty entire cart.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Real-time total price calculation.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Checkout flow with confirmation modal and order summary.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Redirection to Orders page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401" y="5690591"/>
            <a:ext cx="1134048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Integrations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Orders Module → Cart items are converted to customer-specific orders.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Wishlist Module → Move items to cart seamlessly.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401" y="7166966"/>
            <a:ext cx="780164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5"/>
              </a:lnSpc>
              <a:spcBef>
                <a:spcPct val="0"/>
              </a:spcBef>
            </a:pPr>
            <a:r>
              <a:rPr lang="en-US" b="true" sz="2638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🔹 Highlights</a:t>
            </a:r>
          </a:p>
          <a:p>
            <a:pPr algn="l" marL="569550" indent="-284775" lvl="1">
              <a:lnSpc>
                <a:spcPts val="3165"/>
              </a:lnSpc>
              <a:buFont typeface="Arial"/>
              <a:buChar char="•"/>
            </a:pPr>
            <a:r>
              <a:rPr lang="en-US" sz="263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Personalized cart per user</a:t>
            </a:r>
          </a:p>
          <a:p>
            <a:pPr algn="l" marL="569550" indent="-284775" lvl="1">
              <a:lnSpc>
                <a:spcPts val="3165"/>
              </a:lnSpc>
              <a:buFont typeface="Arial"/>
              <a:buChar char="•"/>
            </a:pPr>
            <a:r>
              <a:rPr lang="en-US" sz="263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Smooth UX with modals and real-time updates</a:t>
            </a:r>
          </a:p>
          <a:p>
            <a:pPr algn="l" marL="569550" indent="-284775" lvl="1">
              <a:lnSpc>
                <a:spcPts val="3165"/>
              </a:lnSpc>
              <a:buFont typeface="Arial"/>
              <a:buChar char="•"/>
            </a:pPr>
            <a:r>
              <a:rPr lang="en-US" sz="263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Scalable and modular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0407" y="1049836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4350" y="146685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Orders Management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2631" y="2667222"/>
            <a:ext cx="538796" cy="513539"/>
            <a:chOff x="0" y="0"/>
            <a:chExt cx="812800" cy="774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28600" y="257175"/>
              <a:ext cx="355600" cy="3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2631" y="5247141"/>
            <a:ext cx="538796" cy="513539"/>
            <a:chOff x="0" y="0"/>
            <a:chExt cx="812800" cy="774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28600" y="257175"/>
              <a:ext cx="355600" cy="3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72631" y="7707582"/>
            <a:ext cx="538796" cy="513539"/>
            <a:chOff x="0" y="0"/>
            <a:chExt cx="812800" cy="774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28600" y="257175"/>
              <a:ext cx="355600" cy="3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2631" y="6560780"/>
            <a:ext cx="538796" cy="513539"/>
            <a:chOff x="0" y="0"/>
            <a:chExt cx="812800" cy="774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28600" y="257175"/>
              <a:ext cx="355600" cy="3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2631" y="9001530"/>
            <a:ext cx="538796" cy="513539"/>
            <a:chOff x="0" y="0"/>
            <a:chExt cx="812800" cy="774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28600" y="257175"/>
              <a:ext cx="355600" cy="3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2631" y="3983510"/>
            <a:ext cx="538796" cy="513539"/>
            <a:chOff x="0" y="0"/>
            <a:chExt cx="812800" cy="774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228600" y="257175"/>
              <a:ext cx="355600" cy="3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962175" y="2923991"/>
            <a:ext cx="9424012" cy="6334309"/>
          </a:xfrm>
          <a:custGeom>
            <a:avLst/>
            <a:gdLst/>
            <a:ahLst/>
            <a:cxnLst/>
            <a:rect r="r" b="b" t="t" l="l"/>
            <a:pathLst>
              <a:path h="6334309" w="9424012">
                <a:moveTo>
                  <a:pt x="0" y="0"/>
                </a:moveTo>
                <a:lnTo>
                  <a:pt x="9424013" y="0"/>
                </a:lnTo>
                <a:lnTo>
                  <a:pt x="9424013" y="6334309"/>
                </a:lnTo>
                <a:lnTo>
                  <a:pt x="0" y="6334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03" t="0" r="-1103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14350" y="1588790"/>
            <a:ext cx="1085269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Admin</a:t>
            </a:r>
            <a:r>
              <a:rPr lang="en-US" sz="24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panel to monitor, manage, and update all customer orders in real time.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80824" y="6329692"/>
            <a:ext cx="6870948" cy="937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Update delivery status: Pending → Placed</a:t>
            </a:r>
          </a:p>
          <a:p>
            <a:pPr algn="l">
              <a:lnSpc>
                <a:spcPts val="3777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→ Shipped → Delivered → Cancelled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80824" y="2484140"/>
            <a:ext cx="6729264" cy="87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Paginated table with Order ID, User ID,</a:t>
            </a:r>
          </a:p>
          <a:p>
            <a:pPr algn="l">
              <a:lnSpc>
                <a:spcPts val="3483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items, total amount, status &amp; date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80824" y="3804943"/>
            <a:ext cx="6354408" cy="85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7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Instantly accept or reject incoming</a:t>
            </a:r>
          </a:p>
          <a:p>
            <a:pPr algn="just">
              <a:lnSpc>
                <a:spcPts val="3427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customer orders with a single click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80824" y="8742762"/>
            <a:ext cx="6870948" cy="90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Narrow results by minimum to maximum order amount and date range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80824" y="7496712"/>
            <a:ext cx="7015907" cy="9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Filter orders by: Pending, Placed, Shipped,</a:t>
            </a:r>
          </a:p>
          <a:p>
            <a:pPr algn="l">
              <a:lnSpc>
                <a:spcPts val="3645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Delivered, Cancelled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80824" y="5022811"/>
            <a:ext cx="7270403" cy="91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4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Quickly locate orders by searching with the</a:t>
            </a:r>
          </a:p>
          <a:p>
            <a:pPr algn="l">
              <a:lnSpc>
                <a:spcPts val="3614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customer's User ID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267626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08160" y="398954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Order History Page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8160" y="1533398"/>
            <a:ext cx="17519904" cy="620868"/>
            <a:chOff x="0" y="0"/>
            <a:chExt cx="23359872" cy="8278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59872" cy="827827"/>
            </a:xfrm>
            <a:custGeom>
              <a:avLst/>
              <a:gdLst/>
              <a:ahLst/>
              <a:cxnLst/>
              <a:rect r="r" b="b" t="t" l="l"/>
              <a:pathLst>
                <a:path h="827827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827827"/>
                  </a:lnTo>
                  <a:lnTo>
                    <a:pt x="0" y="827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249" r="0" b="-5014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3359872" cy="83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1D3B7D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Customer-facing order history panel to view, track, and cancel pending orders in real time.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91834" y="2447213"/>
            <a:ext cx="746043" cy="783061"/>
          </a:xfrm>
          <a:custGeom>
            <a:avLst/>
            <a:gdLst/>
            <a:ahLst/>
            <a:cxnLst/>
            <a:rect r="r" b="b" t="t" l="l"/>
            <a:pathLst>
              <a:path h="783061" w="746043">
                <a:moveTo>
                  <a:pt x="0" y="0"/>
                </a:moveTo>
                <a:lnTo>
                  <a:pt x="746043" y="0"/>
                </a:lnTo>
                <a:lnTo>
                  <a:pt x="746043" y="783061"/>
                </a:lnTo>
                <a:lnTo>
                  <a:pt x="0" y="783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5446" y="3525549"/>
            <a:ext cx="812431" cy="857447"/>
          </a:xfrm>
          <a:custGeom>
            <a:avLst/>
            <a:gdLst/>
            <a:ahLst/>
            <a:cxnLst/>
            <a:rect r="r" b="b" t="t" l="l"/>
            <a:pathLst>
              <a:path h="857447" w="812431">
                <a:moveTo>
                  <a:pt x="0" y="0"/>
                </a:moveTo>
                <a:lnTo>
                  <a:pt x="812431" y="0"/>
                </a:lnTo>
                <a:lnTo>
                  <a:pt x="812431" y="857447"/>
                </a:lnTo>
                <a:lnTo>
                  <a:pt x="0" y="857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555202" y="4919326"/>
            <a:ext cx="1067016" cy="828271"/>
          </a:xfrm>
          <a:custGeom>
            <a:avLst/>
            <a:gdLst/>
            <a:ahLst/>
            <a:cxnLst/>
            <a:rect r="r" b="b" t="t" l="l"/>
            <a:pathLst>
              <a:path h="828271" w="1067016">
                <a:moveTo>
                  <a:pt x="0" y="0"/>
                </a:moveTo>
                <a:lnTo>
                  <a:pt x="1067015" y="0"/>
                </a:lnTo>
                <a:lnTo>
                  <a:pt x="1067015" y="828271"/>
                </a:lnTo>
                <a:lnTo>
                  <a:pt x="0" y="8282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802905" y="7427905"/>
            <a:ext cx="763134" cy="763134"/>
          </a:xfrm>
          <a:custGeom>
            <a:avLst/>
            <a:gdLst/>
            <a:ahLst/>
            <a:cxnLst/>
            <a:rect r="r" b="b" t="t" l="l"/>
            <a:pathLst>
              <a:path h="763134" w="763134">
                <a:moveTo>
                  <a:pt x="0" y="0"/>
                </a:moveTo>
                <a:lnTo>
                  <a:pt x="763134" y="0"/>
                </a:lnTo>
                <a:lnTo>
                  <a:pt x="763134" y="763135"/>
                </a:lnTo>
                <a:lnTo>
                  <a:pt x="0" y="7631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91834" y="8503151"/>
            <a:ext cx="774205" cy="829135"/>
          </a:xfrm>
          <a:custGeom>
            <a:avLst/>
            <a:gdLst/>
            <a:ahLst/>
            <a:cxnLst/>
            <a:rect r="r" b="b" t="t" l="l"/>
            <a:pathLst>
              <a:path h="829135" w="774205">
                <a:moveTo>
                  <a:pt x="0" y="0"/>
                </a:moveTo>
                <a:lnTo>
                  <a:pt x="774205" y="0"/>
                </a:lnTo>
                <a:lnTo>
                  <a:pt x="774205" y="829135"/>
                </a:lnTo>
                <a:lnTo>
                  <a:pt x="0" y="8291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39542" y="6230715"/>
            <a:ext cx="898336" cy="954407"/>
          </a:xfrm>
          <a:custGeom>
            <a:avLst/>
            <a:gdLst/>
            <a:ahLst/>
            <a:cxnLst/>
            <a:rect r="r" b="b" t="t" l="l"/>
            <a:pathLst>
              <a:path h="954407" w="898336">
                <a:moveTo>
                  <a:pt x="0" y="0"/>
                </a:moveTo>
                <a:lnTo>
                  <a:pt x="898335" y="0"/>
                </a:lnTo>
                <a:lnTo>
                  <a:pt x="898335" y="954407"/>
                </a:lnTo>
                <a:lnTo>
                  <a:pt x="0" y="9544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2770100" y="2552994"/>
            <a:ext cx="1327115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18">
                <a:solidFill>
                  <a:srgbClr val="353435"/>
                </a:solidFill>
                <a:latin typeface="Comic Sans"/>
                <a:ea typeface="Comic Sans"/>
                <a:cs typeface="Comic Sans"/>
                <a:sym typeface="Comic Sans"/>
              </a:rPr>
              <a:t>Filter orders by status-All, Pending, Placed, Shipped, Delivered, Cancelled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39219" y="3665574"/>
            <a:ext cx="1387219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9">
                <a:solidFill>
                  <a:srgbClr val="353435"/>
                </a:solidFill>
                <a:latin typeface="Comic Sans"/>
                <a:ea typeface="Comic Sans"/>
                <a:cs typeface="Comic Sans"/>
                <a:sym typeface="Comic Sans"/>
              </a:rPr>
              <a:t>Order card shows Order ID, Date, Total Amount, Item Count &amp; Status Badge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70100" y="4768629"/>
            <a:ext cx="12191926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000" spc="110">
                <a:solidFill>
                  <a:srgbClr val="353435"/>
                </a:solidFill>
                <a:latin typeface="Comic Sans"/>
                <a:ea typeface="Comic Sans"/>
                <a:cs typeface="Comic Sans"/>
                <a:sym typeface="Comic Sans"/>
              </a:rPr>
              <a:t>Visual order progress tracker — Step-by-Step Status Timeline:</a:t>
            </a:r>
          </a:p>
          <a:p>
            <a:pPr algn="l">
              <a:lnSpc>
                <a:spcPts val="4305"/>
              </a:lnSpc>
            </a:pPr>
            <a:r>
              <a:rPr lang="en-US" sz="3000" spc="110">
                <a:solidFill>
                  <a:srgbClr val="353435"/>
                </a:solidFill>
                <a:latin typeface="Comic Sans"/>
                <a:ea typeface="Comic Sans"/>
                <a:cs typeface="Comic Sans"/>
                <a:sym typeface="Comic Sans"/>
              </a:rPr>
              <a:t>Pending → Placed→Shipped →Delivered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39219" y="6422169"/>
            <a:ext cx="1330203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63">
                <a:solidFill>
                  <a:srgbClr val="353435"/>
                </a:solidFill>
                <a:latin typeface="Comic Sans"/>
                <a:ea typeface="Comic Sans"/>
                <a:cs typeface="Comic Sans"/>
                <a:sym typeface="Comic Sans"/>
              </a:rPr>
              <a:t>Itemized order breakdown with Product Image, Name, Quantity &amp; Price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70100" y="7527069"/>
            <a:ext cx="907859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32">
                <a:solidFill>
                  <a:srgbClr val="353435"/>
                </a:solidFill>
                <a:latin typeface="Comic Sans"/>
                <a:ea typeface="Comic Sans"/>
                <a:cs typeface="Comic Sans"/>
                <a:sym typeface="Comic Sans"/>
              </a:rPr>
              <a:t>Order Total displayed at the bottom of each card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70100" y="8631969"/>
            <a:ext cx="86844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9">
                <a:solidFill>
                  <a:srgbClr val="353435"/>
                </a:solidFill>
                <a:latin typeface="Comic Sans"/>
                <a:ea typeface="Comic Sans"/>
                <a:cs typeface="Comic Sans"/>
                <a:sym typeface="Comic Sans"/>
              </a:rPr>
              <a:t>Cancel order option available for Pending Orders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0407" y="1049836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4350" y="146685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Admin Dashboard Page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4048" y="3886418"/>
            <a:ext cx="17519904" cy="868673"/>
            <a:chOff x="0" y="0"/>
            <a:chExt cx="23359872" cy="1158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0407" y="1299336"/>
            <a:ext cx="9077746" cy="4287701"/>
            <a:chOff x="0" y="0"/>
            <a:chExt cx="12046827" cy="56900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46827" cy="5690094"/>
            </a:xfrm>
            <a:custGeom>
              <a:avLst/>
              <a:gdLst/>
              <a:ahLst/>
              <a:cxnLst/>
              <a:rect r="r" b="b" t="t" l="l"/>
              <a:pathLst>
                <a:path h="5690094" w="12046827">
                  <a:moveTo>
                    <a:pt x="0" y="0"/>
                  </a:moveTo>
                  <a:lnTo>
                    <a:pt x="12046827" y="0"/>
                  </a:lnTo>
                  <a:lnTo>
                    <a:pt x="12046827" y="5690094"/>
                  </a:lnTo>
                  <a:lnTo>
                    <a:pt x="0" y="56900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88" r="-93908" b="1250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046827" cy="5737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822"/>
                </a:lnSpc>
              </a:pPr>
              <a:r>
                <a:rPr lang="en-US" sz="294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Features:</a:t>
              </a:r>
            </a:p>
            <a:p>
              <a:pPr algn="just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Aggregated</a:t>
              </a: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 st</a:t>
              </a: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ats: Total Users, Total Orders, Total Sales, Total Products</a:t>
              </a:r>
            </a:p>
            <a:p>
              <a:pPr algn="just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Recent Orders table with product image, amount, status &amp; date</a:t>
              </a:r>
            </a:p>
            <a:p>
              <a:pPr algn="just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Recently Added Products with price snapshot</a:t>
              </a:r>
            </a:p>
            <a:p>
              <a:pPr algn="just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New Users table with avatar, role badge &amp; join date</a:t>
              </a:r>
            </a:p>
            <a:p>
              <a:pPr algn="just">
                <a:lnSpc>
                  <a:spcPts val="3528"/>
                </a:lnSpc>
              </a:pPr>
            </a:p>
            <a:p>
              <a:pPr algn="just">
                <a:lnSpc>
                  <a:spcPts val="39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3945" y="4755090"/>
            <a:ext cx="8924207" cy="5649395"/>
            <a:chOff x="0" y="0"/>
            <a:chExt cx="14751156" cy="93380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751155" cy="9338100"/>
            </a:xfrm>
            <a:custGeom>
              <a:avLst/>
              <a:gdLst/>
              <a:ahLst/>
              <a:cxnLst/>
              <a:rect r="r" b="b" t="t" l="l"/>
              <a:pathLst>
                <a:path h="9338100" w="14751155">
                  <a:moveTo>
                    <a:pt x="0" y="0"/>
                  </a:moveTo>
                  <a:lnTo>
                    <a:pt x="14751155" y="0"/>
                  </a:lnTo>
                  <a:lnTo>
                    <a:pt x="14751155" y="9338100"/>
                  </a:lnTo>
                  <a:lnTo>
                    <a:pt x="0" y="9338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0" r="-58359" b="4668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4751156" cy="93571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528"/>
                </a:lnSpc>
              </a:pPr>
              <a:r>
                <a:rPr lang="en-US" sz="294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Frontend:</a:t>
              </a:r>
            </a:p>
            <a:p>
              <a:pPr algn="just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Reac</a:t>
              </a: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 with useState, useEffect</a:t>
              </a:r>
            </a:p>
            <a:p>
              <a:pPr algn="just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Modu</a:t>
              </a: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lar components: StatCard, RecentOrdersTable, RecentProductsTable, RecentUsersTable</a:t>
              </a:r>
            </a:p>
            <a:p>
              <a:pPr algn="just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Currency formatted in ₹ INR, dates in Indian locale</a:t>
              </a:r>
            </a:p>
            <a:p>
              <a:pPr algn="just" marL="539749" indent="-269875" lvl="1">
                <a:lnSpc>
                  <a:spcPts val="362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</a:t>
              </a:r>
              <a:r>
                <a:rPr lang="en-US" sz="2499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tatus badges with color coding (pending, placed, shipped, delivered, cancelled)</a:t>
              </a:r>
            </a:p>
            <a:p>
              <a:pPr algn="just">
                <a:lnSpc>
                  <a:spcPts val="2999"/>
                </a:lnSpc>
              </a:pPr>
            </a:p>
            <a:p>
              <a:pPr algn="just">
                <a:lnSpc>
                  <a:spcPts val="3624"/>
                </a:lnSpc>
              </a:pPr>
            </a:p>
            <a:p>
              <a:pPr algn="just">
                <a:lnSpc>
                  <a:spcPts val="3528"/>
                </a:lnSpc>
              </a:pPr>
            </a:p>
            <a:p>
              <a:pPr algn="just">
                <a:lnSpc>
                  <a:spcPts val="3600"/>
                </a:lnSpc>
              </a:pPr>
            </a:p>
            <a:p>
              <a:pPr algn="just">
                <a:lnSpc>
                  <a:spcPts val="39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776321" y="1299336"/>
            <a:ext cx="8616338" cy="8519404"/>
          </a:xfrm>
          <a:custGeom>
            <a:avLst/>
            <a:gdLst/>
            <a:ahLst/>
            <a:cxnLst/>
            <a:rect r="r" b="b" t="t" l="l"/>
            <a:pathLst>
              <a:path h="8519404" w="8616338">
                <a:moveTo>
                  <a:pt x="0" y="0"/>
                </a:moveTo>
                <a:lnTo>
                  <a:pt x="8616338" y="0"/>
                </a:lnTo>
                <a:lnTo>
                  <a:pt x="8616338" y="8519404"/>
                </a:lnTo>
                <a:lnTo>
                  <a:pt x="0" y="8519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4350" y="1419664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4350" y="348522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Audit and Activity Logging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4048" y="1217194"/>
            <a:ext cx="17519904" cy="11747326"/>
            <a:chOff x="0" y="0"/>
            <a:chExt cx="23359872" cy="156631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59872" cy="15663104"/>
            </a:xfrm>
            <a:custGeom>
              <a:avLst/>
              <a:gdLst/>
              <a:ahLst/>
              <a:cxnLst/>
              <a:rect r="r" b="b" t="t" l="l"/>
              <a:pathLst>
                <a:path h="15663104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5663104"/>
                  </a:lnTo>
                  <a:lnTo>
                    <a:pt x="0" y="15663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33" r="0" b="682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3359872" cy="15739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5112"/>
                </a:lnSpc>
              </a:pPr>
            </a:p>
            <a:p>
              <a:pPr algn="just">
                <a:lnSpc>
                  <a:spcPts val="5112"/>
                </a:lnSpc>
              </a:pPr>
              <a:r>
                <a:rPr lang="en-US" sz="3600">
                  <a:solidFill>
                    <a:srgbClr val="1D3B7D"/>
                  </a:solidFill>
                  <a:latin typeface="Arial"/>
                  <a:ea typeface="Arial"/>
                  <a:cs typeface="Arial"/>
                  <a:sym typeface="Arial"/>
                </a:rPr>
                <a:t>🔹 </a:t>
              </a:r>
              <a:r>
                <a:rPr lang="en-US" sz="36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Objective</a:t>
              </a:r>
            </a:p>
            <a:p>
              <a:pPr algn="just" marL="777243" indent="-388622" lvl="1">
                <a:lnSpc>
                  <a:spcPts val="5112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Ensure accountability, traceability, and security of admin actions</a:t>
              </a:r>
            </a:p>
            <a:p>
              <a:pPr algn="just" marL="777243" indent="-388622" lvl="1">
                <a:lnSpc>
                  <a:spcPts val="5112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Enable debugging and system monitoring</a:t>
              </a:r>
            </a:p>
            <a:p>
              <a:pPr algn="just">
                <a:lnSpc>
                  <a:spcPts val="5112"/>
                </a:lnSpc>
              </a:pPr>
            </a:p>
            <a:p>
              <a:pPr algn="just">
                <a:lnSpc>
                  <a:spcPts val="5112"/>
                </a:lnSpc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🔹 </a:t>
              </a:r>
              <a:r>
                <a:rPr lang="en-US" sz="36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</a:t>
              </a:r>
              <a:r>
                <a:rPr lang="en-US" sz="36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ow logs are generated</a:t>
              </a:r>
            </a:p>
            <a:p>
              <a:pPr algn="just" marL="777243" indent="-388622" lvl="1">
                <a:lnSpc>
                  <a:spcPts val="5112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After successful inventory operations</a:t>
              </a:r>
            </a:p>
            <a:p>
              <a:pPr algn="just" marL="777243" indent="-388622" lvl="1">
                <a:lnSpc>
                  <a:spcPts val="5112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Backend calls writeActivityLog(...)</a:t>
              </a:r>
            </a:p>
            <a:p>
              <a:pPr algn="just" marL="777243" indent="-388622" lvl="1">
                <a:lnSpc>
                  <a:spcPts val="5112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Logging is best-effort (Non-Blocking)</a:t>
              </a:r>
            </a:p>
            <a:p>
              <a:pPr algn="just">
                <a:lnSpc>
                  <a:spcPts val="5112"/>
                </a:lnSpc>
              </a:pPr>
            </a:p>
            <a:p>
              <a:pPr algn="just">
                <a:lnSpc>
                  <a:spcPts val="5112"/>
                </a:lnSpc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🔹 </a:t>
              </a:r>
              <a:r>
                <a:rPr lang="en-US" sz="36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Security &amp; Access</a:t>
              </a:r>
            </a:p>
            <a:p>
              <a:pPr algn="just" marL="777243" indent="-388622" lvl="1">
                <a:lnSpc>
                  <a:spcPts val="5112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🔐 JWT Authentication</a:t>
              </a:r>
            </a:p>
            <a:p>
              <a:pPr algn="just" marL="777243" indent="-388622" lvl="1">
                <a:lnSpc>
                  <a:spcPts val="5112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👤 Role-Based Access (Admin only)</a:t>
              </a:r>
            </a:p>
            <a:p>
              <a:pPr algn="just">
                <a:lnSpc>
                  <a:spcPts val="5112"/>
                </a:lnSpc>
              </a:pPr>
            </a:p>
            <a:p>
              <a:pPr algn="just">
                <a:lnSpc>
                  <a:spcPts val="5112"/>
                </a:lnSpc>
              </a:pPr>
            </a:p>
            <a:p>
              <a:pPr algn="just">
                <a:lnSpc>
                  <a:spcPts val="5112"/>
                </a:lnSpc>
              </a:pPr>
            </a:p>
            <a:p>
              <a:pPr algn="just">
                <a:lnSpc>
                  <a:spcPts val="5112"/>
                </a:lnSpc>
              </a:pPr>
            </a:p>
            <a:p>
              <a:pPr algn="just">
                <a:lnSpc>
                  <a:spcPts val="5112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146685"/>
            <a:ext cx="17519904" cy="47625"/>
            <a:chOff x="0" y="0"/>
            <a:chExt cx="23359872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59872" cy="63503"/>
            </a:xfrm>
            <a:custGeom>
              <a:avLst/>
              <a:gdLst/>
              <a:ahLst/>
              <a:cxnLst/>
              <a:rect r="r" b="b" t="t" l="l"/>
              <a:pathLst>
                <a:path h="6350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63503"/>
                  </a:lnTo>
                  <a:lnTo>
                    <a:pt x="0" y="635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5192" r="0" b="-77401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3359872" cy="8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20137" y="0"/>
            <a:ext cx="8751256" cy="10651949"/>
          </a:xfrm>
          <a:custGeom>
            <a:avLst/>
            <a:gdLst/>
            <a:ahLst/>
            <a:cxnLst/>
            <a:rect r="r" b="b" t="t" l="l"/>
            <a:pathLst>
              <a:path h="10651949" w="8751256">
                <a:moveTo>
                  <a:pt x="0" y="0"/>
                </a:moveTo>
                <a:lnTo>
                  <a:pt x="8751257" y="0"/>
                </a:lnTo>
                <a:lnTo>
                  <a:pt x="8751257" y="10651949"/>
                </a:lnTo>
                <a:lnTo>
                  <a:pt x="0" y="10651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75" r="0" b="-1375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4350" y="1253241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4350" y="384569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D3B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Performance Optimization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82688" y="1979293"/>
            <a:ext cx="535919" cy="535919"/>
          </a:xfrm>
          <a:custGeom>
            <a:avLst/>
            <a:gdLst/>
            <a:ahLst/>
            <a:cxnLst/>
            <a:rect r="r" b="b" t="t" l="l"/>
            <a:pathLst>
              <a:path h="535919" w="535919">
                <a:moveTo>
                  <a:pt x="0" y="0"/>
                </a:moveTo>
                <a:lnTo>
                  <a:pt x="535918" y="0"/>
                </a:lnTo>
                <a:lnTo>
                  <a:pt x="535918" y="535919"/>
                </a:lnTo>
                <a:lnTo>
                  <a:pt x="0" y="53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2688" y="5444635"/>
            <a:ext cx="535919" cy="535919"/>
          </a:xfrm>
          <a:custGeom>
            <a:avLst/>
            <a:gdLst/>
            <a:ahLst/>
            <a:cxnLst/>
            <a:rect r="r" b="b" t="t" l="l"/>
            <a:pathLst>
              <a:path h="535919" w="535919">
                <a:moveTo>
                  <a:pt x="0" y="0"/>
                </a:moveTo>
                <a:lnTo>
                  <a:pt x="535918" y="0"/>
                </a:lnTo>
                <a:lnTo>
                  <a:pt x="535918" y="535919"/>
                </a:lnTo>
                <a:lnTo>
                  <a:pt x="0" y="53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22354" y="2515212"/>
            <a:ext cx="523281" cy="416662"/>
          </a:xfrm>
          <a:custGeom>
            <a:avLst/>
            <a:gdLst/>
            <a:ahLst/>
            <a:cxnLst/>
            <a:rect r="r" b="b" t="t" l="l"/>
            <a:pathLst>
              <a:path h="416662" w="523281">
                <a:moveTo>
                  <a:pt x="0" y="0"/>
                </a:moveTo>
                <a:lnTo>
                  <a:pt x="523280" y="0"/>
                </a:lnTo>
                <a:lnTo>
                  <a:pt x="523280" y="416662"/>
                </a:lnTo>
                <a:lnTo>
                  <a:pt x="0" y="4166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2688" y="7538209"/>
            <a:ext cx="476756" cy="469605"/>
          </a:xfrm>
          <a:custGeom>
            <a:avLst/>
            <a:gdLst/>
            <a:ahLst/>
            <a:cxnLst/>
            <a:rect r="r" b="b" t="t" l="l"/>
            <a:pathLst>
              <a:path h="469605" w="476756">
                <a:moveTo>
                  <a:pt x="0" y="0"/>
                </a:moveTo>
                <a:lnTo>
                  <a:pt x="476756" y="0"/>
                </a:lnTo>
                <a:lnTo>
                  <a:pt x="476756" y="469605"/>
                </a:lnTo>
                <a:lnTo>
                  <a:pt x="0" y="4696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22354" y="4881186"/>
            <a:ext cx="524628" cy="524628"/>
          </a:xfrm>
          <a:custGeom>
            <a:avLst/>
            <a:gdLst/>
            <a:ahLst/>
            <a:cxnLst/>
            <a:rect r="r" b="b" t="t" l="l"/>
            <a:pathLst>
              <a:path h="524628" w="524628">
                <a:moveTo>
                  <a:pt x="0" y="0"/>
                </a:moveTo>
                <a:lnTo>
                  <a:pt x="524628" y="0"/>
                </a:lnTo>
                <a:lnTo>
                  <a:pt x="524628" y="524628"/>
                </a:lnTo>
                <a:lnTo>
                  <a:pt x="0" y="5246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24478" y="1969768"/>
            <a:ext cx="7922009" cy="715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8"/>
              </a:lnSpc>
            </a:pPr>
            <a:r>
              <a:rPr lang="en-US" sz="29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API &amp; Database</a:t>
            </a:r>
          </a:p>
          <a:p>
            <a:pPr algn="just" marL="539568" indent="-269784" lvl="1">
              <a:lnSpc>
                <a:spcPts val="299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Faster SQL queries</a:t>
            </a:r>
          </a:p>
          <a:p>
            <a:pPr algn="just">
              <a:lnSpc>
                <a:spcPts val="2998"/>
              </a:lnSpc>
            </a:pPr>
          </a:p>
          <a:p>
            <a:pPr algn="just" marL="539568" indent="-269784" lvl="1">
              <a:lnSpc>
                <a:spcPts val="2998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Reduced unnecessary DB calls</a:t>
            </a:r>
          </a:p>
          <a:p>
            <a:pPr algn="just">
              <a:lnSpc>
                <a:spcPts val="2998"/>
              </a:lnSpc>
            </a:pPr>
          </a:p>
          <a:p>
            <a:pPr algn="just" marL="539568" indent="-269784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Optimized c</a:t>
            </a: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ontroller → service flow</a:t>
            </a:r>
          </a:p>
          <a:p>
            <a:pPr algn="just">
              <a:lnSpc>
                <a:spcPts val="2998"/>
              </a:lnSpc>
              <a:spcBef>
                <a:spcPct val="0"/>
              </a:spcBef>
            </a:pPr>
          </a:p>
          <a:p>
            <a:pPr algn="just" marL="539568" indent="-269784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Fetched only required fields (no heavy queries)</a:t>
            </a:r>
          </a:p>
          <a:p>
            <a:pPr algn="just">
              <a:lnSpc>
                <a:spcPts val="3598"/>
              </a:lnSpc>
              <a:spcBef>
                <a:spcPct val="0"/>
              </a:spcBef>
            </a:pPr>
          </a:p>
          <a:p>
            <a:pPr algn="just">
              <a:lnSpc>
                <a:spcPts val="3598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Pagination</a:t>
            </a:r>
          </a:p>
          <a:p>
            <a:pPr algn="just" marL="539570" indent="-269785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Applied on products, categories and orders</a:t>
            </a:r>
          </a:p>
          <a:p>
            <a:pPr algn="just">
              <a:lnSpc>
                <a:spcPts val="2998"/>
              </a:lnSpc>
              <a:spcBef>
                <a:spcPct val="0"/>
              </a:spcBef>
            </a:pPr>
          </a:p>
          <a:p>
            <a:pPr algn="just" marL="539570" indent="-269785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Smaller API responses → quicker page load</a:t>
            </a:r>
          </a:p>
          <a:p>
            <a:pPr algn="just">
              <a:lnSpc>
                <a:spcPts val="3598"/>
              </a:lnSpc>
              <a:spcBef>
                <a:spcPct val="0"/>
              </a:spcBef>
            </a:pPr>
          </a:p>
          <a:p>
            <a:pPr algn="just">
              <a:lnSpc>
                <a:spcPts val="3598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Middleware</a:t>
            </a:r>
          </a:p>
          <a:p>
            <a:pPr algn="l" marL="539570" indent="-269785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JWT middleware optimized for quick authentication</a:t>
            </a:r>
          </a:p>
          <a:p>
            <a:pPr algn="just">
              <a:lnSpc>
                <a:spcPts val="3598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007559" y="2495550"/>
            <a:ext cx="7984998" cy="451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Network Optimization</a:t>
            </a:r>
          </a:p>
          <a:p>
            <a:pPr algn="just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</a:t>
            </a: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earch debounce to limit rapid API ca</a:t>
            </a: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lls</a:t>
            </a:r>
          </a:p>
          <a:p>
            <a:pPr algn="just">
              <a:lnSpc>
                <a:spcPts val="3000"/>
              </a:lnSpc>
              <a:spcBef>
                <a:spcPct val="0"/>
              </a:spcBef>
            </a:pP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Rendering Optimization</a:t>
            </a:r>
          </a:p>
          <a:p>
            <a:pPr algn="just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Us</a:t>
            </a: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ed React memoization (useMemo, useCallback)</a:t>
            </a:r>
          </a:p>
          <a:p>
            <a:pPr algn="just">
              <a:lnSpc>
                <a:spcPts val="3000"/>
              </a:lnSpc>
              <a:spcBef>
                <a:spcPct val="0"/>
              </a:spcBef>
            </a:pPr>
          </a:p>
          <a:p>
            <a:pPr algn="just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Reduced unnecessary re-renders</a:t>
            </a:r>
          </a:p>
          <a:p>
            <a:pPr algn="just">
              <a:lnSpc>
                <a:spcPts val="3000"/>
              </a:lnSpc>
              <a:spcBef>
                <a:spcPct val="0"/>
              </a:spcBef>
            </a:pPr>
          </a:p>
          <a:p>
            <a:pPr algn="just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Cle</a:t>
            </a: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aner component structure → smoother UI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79503" y="1486849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217023" y="594364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3D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Additional Features Implemented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972825" y="2619078"/>
            <a:ext cx="4560615" cy="544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Multiple sort options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Delete confirmation dialogs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Clean and modern UI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Role-based access control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2475695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90"/>
                </a:lnTo>
                <a:lnTo>
                  <a:pt x="0" y="68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07059" y="2619078"/>
            <a:ext cx="3782318" cy="544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Amount range filtering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Responsive modal form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Error messaging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Form 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16888" y="2619078"/>
            <a:ext cx="3406229" cy="544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Real-time totals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Loading spinners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Icons for better UX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Pagination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4120510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89"/>
                </a:lnTo>
                <a:lnTo>
                  <a:pt x="0" y="682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5765324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90"/>
                </a:lnTo>
                <a:lnTo>
                  <a:pt x="0" y="68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7410139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90"/>
                </a:lnTo>
                <a:lnTo>
                  <a:pt x="0" y="68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42098" y="2475695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90"/>
                </a:lnTo>
                <a:lnTo>
                  <a:pt x="0" y="68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42098" y="4120510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89"/>
                </a:lnTo>
                <a:lnTo>
                  <a:pt x="0" y="682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42098" y="5765324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90"/>
                </a:lnTo>
                <a:lnTo>
                  <a:pt x="0" y="68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342098" y="7410139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90"/>
                </a:lnTo>
                <a:lnTo>
                  <a:pt x="0" y="68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249244" y="2475695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90"/>
                </a:lnTo>
                <a:lnTo>
                  <a:pt x="0" y="68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249244" y="4168135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89"/>
                </a:lnTo>
                <a:lnTo>
                  <a:pt x="0" y="682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249244" y="5860574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90"/>
                </a:lnTo>
                <a:lnTo>
                  <a:pt x="0" y="68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249244" y="7553014"/>
            <a:ext cx="630727" cy="682790"/>
          </a:xfrm>
          <a:custGeom>
            <a:avLst/>
            <a:gdLst/>
            <a:ahLst/>
            <a:cxnLst/>
            <a:rect r="r" b="b" t="t" l="l"/>
            <a:pathLst>
              <a:path h="682790" w="630727">
                <a:moveTo>
                  <a:pt x="0" y="0"/>
                </a:moveTo>
                <a:lnTo>
                  <a:pt x="630727" y="0"/>
                </a:lnTo>
                <a:lnTo>
                  <a:pt x="630727" y="682790"/>
                </a:lnTo>
                <a:lnTo>
                  <a:pt x="0" y="68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3058" y="1507985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594364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3D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Scope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06665" y="2489145"/>
            <a:ext cx="15963974" cy="712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Integrate real-time </a:t>
            </a: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order tracking with live location updates using maps APIs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Implement online payment gateways (Stripe/Razorpay) with secure transaction handling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Add recommendation system based on user behavior and purchase history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Enhance scalability using microservices architecture and containerization (Docker + Kubernetes)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Introduce real-time notifications (email/SMS/push) for order updates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Improve analytics with admin dashboards for sales insights and user activity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2272478"/>
            <a:ext cx="467532" cy="724855"/>
          </a:xfrm>
          <a:custGeom>
            <a:avLst/>
            <a:gdLst/>
            <a:ahLst/>
            <a:cxnLst/>
            <a:rect r="r" b="b" t="t" l="l"/>
            <a:pathLst>
              <a:path h="724855" w="467532">
                <a:moveTo>
                  <a:pt x="0" y="0"/>
                </a:moveTo>
                <a:lnTo>
                  <a:pt x="467532" y="0"/>
                </a:lnTo>
                <a:lnTo>
                  <a:pt x="467532" y="724855"/>
                </a:lnTo>
                <a:lnTo>
                  <a:pt x="0" y="724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9184" y="3585368"/>
            <a:ext cx="787747" cy="646937"/>
          </a:xfrm>
          <a:custGeom>
            <a:avLst/>
            <a:gdLst/>
            <a:ahLst/>
            <a:cxnLst/>
            <a:rect r="r" b="b" t="t" l="l"/>
            <a:pathLst>
              <a:path h="646937" w="787747">
                <a:moveTo>
                  <a:pt x="0" y="0"/>
                </a:moveTo>
                <a:lnTo>
                  <a:pt x="787747" y="0"/>
                </a:lnTo>
                <a:lnTo>
                  <a:pt x="787747" y="646937"/>
                </a:lnTo>
                <a:lnTo>
                  <a:pt x="0" y="646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3222" y="4797480"/>
            <a:ext cx="673009" cy="692040"/>
          </a:xfrm>
          <a:custGeom>
            <a:avLst/>
            <a:gdLst/>
            <a:ahLst/>
            <a:cxnLst/>
            <a:rect r="r" b="b" t="t" l="l"/>
            <a:pathLst>
              <a:path h="692040" w="673009">
                <a:moveTo>
                  <a:pt x="0" y="0"/>
                </a:moveTo>
                <a:lnTo>
                  <a:pt x="673010" y="0"/>
                </a:lnTo>
                <a:lnTo>
                  <a:pt x="673010" y="692040"/>
                </a:lnTo>
                <a:lnTo>
                  <a:pt x="0" y="6920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1041" y="6051495"/>
            <a:ext cx="635191" cy="662520"/>
          </a:xfrm>
          <a:custGeom>
            <a:avLst/>
            <a:gdLst/>
            <a:ahLst/>
            <a:cxnLst/>
            <a:rect r="r" b="b" t="t" l="l"/>
            <a:pathLst>
              <a:path h="662520" w="635191">
                <a:moveTo>
                  <a:pt x="0" y="0"/>
                </a:moveTo>
                <a:lnTo>
                  <a:pt x="635191" y="0"/>
                </a:lnTo>
                <a:lnTo>
                  <a:pt x="635191" y="662520"/>
                </a:lnTo>
                <a:lnTo>
                  <a:pt x="0" y="6625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7763" y="7304565"/>
            <a:ext cx="710590" cy="609331"/>
          </a:xfrm>
          <a:custGeom>
            <a:avLst/>
            <a:gdLst/>
            <a:ahLst/>
            <a:cxnLst/>
            <a:rect r="r" b="b" t="t" l="l"/>
            <a:pathLst>
              <a:path h="609331" w="710590">
                <a:moveTo>
                  <a:pt x="0" y="0"/>
                </a:moveTo>
                <a:lnTo>
                  <a:pt x="710590" y="0"/>
                </a:lnTo>
                <a:lnTo>
                  <a:pt x="710590" y="609331"/>
                </a:lnTo>
                <a:lnTo>
                  <a:pt x="0" y="6093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4052" y="8609333"/>
            <a:ext cx="749169" cy="648967"/>
          </a:xfrm>
          <a:custGeom>
            <a:avLst/>
            <a:gdLst/>
            <a:ahLst/>
            <a:cxnLst/>
            <a:rect r="r" b="b" t="t" l="l"/>
            <a:pathLst>
              <a:path h="648967" w="749169">
                <a:moveTo>
                  <a:pt x="0" y="0"/>
                </a:moveTo>
                <a:lnTo>
                  <a:pt x="749169" y="0"/>
                </a:lnTo>
                <a:lnTo>
                  <a:pt x="749169" y="648967"/>
                </a:lnTo>
                <a:lnTo>
                  <a:pt x="0" y="6489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05537" y="1660052"/>
            <a:ext cx="1288733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43058" y="615500"/>
            <a:ext cx="17519904" cy="868673"/>
            <a:chOff x="0" y="0"/>
            <a:chExt cx="23359872" cy="1158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59872" cy="1158233"/>
            </a:xfrm>
            <a:custGeom>
              <a:avLst/>
              <a:gdLst/>
              <a:ahLst/>
              <a:cxnLst/>
              <a:rect r="r" b="b" t="t" l="l"/>
              <a:pathLst>
                <a:path h="1158233" w="23359872">
                  <a:moveTo>
                    <a:pt x="0" y="0"/>
                  </a:moveTo>
                  <a:lnTo>
                    <a:pt x="23359872" y="0"/>
                  </a:lnTo>
                  <a:lnTo>
                    <a:pt x="23359872" y="1158233"/>
                  </a:lnTo>
                  <a:lnTo>
                    <a:pt x="0" y="1158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15" r="0" b="-3298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35987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3D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77089" y="2250575"/>
            <a:ext cx="16821256" cy="5845387"/>
          </a:xfrm>
          <a:custGeom>
            <a:avLst/>
            <a:gdLst/>
            <a:ahLst/>
            <a:cxnLst/>
            <a:rect r="r" b="b" t="t" l="l"/>
            <a:pathLst>
              <a:path h="5845387" w="16821256">
                <a:moveTo>
                  <a:pt x="0" y="0"/>
                </a:moveTo>
                <a:lnTo>
                  <a:pt x="16821257" y="0"/>
                </a:lnTo>
                <a:lnTo>
                  <a:pt x="16821257" y="5845387"/>
                </a:lnTo>
                <a:lnTo>
                  <a:pt x="0" y="5845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8107" y="8991600"/>
            <a:ext cx="1518477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sz="26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Built a scalable, secure, and production-ready e-commerce system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59292" y="6467818"/>
            <a:ext cx="2361234" cy="0"/>
          </a:xfrm>
          <a:prstGeom prst="line">
            <a:avLst/>
          </a:prstGeom>
          <a:ln cap="rnd" w="47625">
            <a:solidFill>
              <a:srgbClr val="D81E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044454" y="3588897"/>
            <a:ext cx="10199093" cy="3109206"/>
            <a:chOff x="0" y="0"/>
            <a:chExt cx="4840778" cy="1475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40778" cy="1475720"/>
            </a:xfrm>
            <a:custGeom>
              <a:avLst/>
              <a:gdLst/>
              <a:ahLst/>
              <a:cxnLst/>
              <a:rect r="r" b="b" t="t" l="l"/>
              <a:pathLst>
                <a:path h="1475720" w="4840778">
                  <a:moveTo>
                    <a:pt x="0" y="0"/>
                  </a:moveTo>
                  <a:lnTo>
                    <a:pt x="4840778" y="0"/>
                  </a:lnTo>
                  <a:lnTo>
                    <a:pt x="4840778" y="1475720"/>
                  </a:lnTo>
                  <a:lnTo>
                    <a:pt x="0" y="1475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500" r="-382564" b="-2373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40778" cy="1542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0"/>
                </a:lnSpc>
              </a:pPr>
              <a:r>
                <a:rPr lang="en-US" b="true" sz="15000">
                  <a:solidFill>
                    <a:srgbClr val="1E3D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DAHFfZwKfqA</dc:identifier>
  <dcterms:modified xsi:type="dcterms:W3CDTF">2011-08-01T06:04:30Z</dcterms:modified>
  <cp:revision>1</cp:revision>
  <dc:title>Sigmoid template (3) (1).pptx</dc:title>
</cp:coreProperties>
</file>